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roblem and idea" id="{a5c30fb5-c70d-d649-2132-3acc9e3512f7}">
          <p14:sldIdLst>
            <p14:sldId id="256"/>
            <p14:sldId id="257"/>
            <p14:sldId id="258"/>
          </p14:sldIdLst>
        </p14:section>
        <p14:section name="Method" id="{04c66e31-93ff-05b2-87f2-e0c4d3242c2b}">
          <p14:sldIdLst>
            <p14:sldId id="259"/>
            <p14:sldId id="260"/>
            <p14:sldId id="261"/>
            <p14:sldId id="262"/>
            <p14:sldId id="263"/>
            <p14:sldId id="264"/>
          </p14:sldIdLst>
        </p14:section>
        <p14:section name="Evidence" id="{ce36185c-3826-c673-8ec8-cbd5885cc28c}">
          <p14:sldIdLst>
            <p14:sldId id="265"/>
            <p14:sldId id="266"/>
          </p14:sldIdLst>
        </p14:section>
        <p14:section name="Use and status" id="{36e1e06b-b9a8-2dce-3ba1-e1e84d1be013}">
          <p14:sldIdLst>
            <p14:sldId id="267"/>
            <p14:sldId id="268"/>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2937"/>
                </a:solidFill>
                <a:latin typeface="+mn-lt"/>
              </a:defRPr>
            </a:pPr>
            <a:r>
              <a:rPr sz="1400" b="0" i="0" u="none" strike="noStrike">
                <a:solidFill>
                  <a:srgbClr val="1F2937"/>
                </a:solidFill>
                <a:latin typeface="+mn-lt"/>
              </a:rPr>
              <a:t>Rare-severe legitimate claims flagged (%)</a:t>
            </a:r>
          </a:p>
        </c:rich>
      </c:tx>
      <c:layout/>
      <c:overlay val="0"/>
    </c:title>
    <c:autoTitleDeleted val="0"/>
    <c:plotArea>
      <c:layout/>
      <c:barChart>
        <c:barDir val="col"/>
        <c:grouping val="clustered"/>
        <c:varyColors val="0"/>
        <c:ser>
          <c:idx val="0"/>
          <c:order val="0"/>
          <c:tx>
            <c:strRef>
              <c:f>Sheet1!$B$1</c:f>
              <c:strCache>
                <c:ptCount val="1"/>
                <c:pt idx="0">
                  <c:v>Conformal only</c:v>
                </c:pt>
              </c:strCache>
            </c:strRef>
          </c:tx>
          <c:spPr>
            <a:solidFill>
              <a:srgbClr val="F26B1D"/>
            </a:solidFill>
            <a:effectLst/>
          </c:spPr>
          <c:invertIfNegative val="0"/>
          <c:dLbls>
            <c:numFmt formatCode="0.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Upcoding</c:v>
                  </c:pt>
                  <c:pt idx="1">
                    <c:v>Unbundling</c:v>
                  </c:pt>
                  <c:pt idx="2">
                    <c:v>Phantom</c:v>
                  </c:pt>
                  <c:pt idx="3">
                    <c:v>Collusion</c:v>
                  </c:pt>
                </c:lvl>
              </c:multiLvlStrCache>
            </c:multiLvlStrRef>
          </c:cat>
          <c:val>
            <c:numRef>
              <c:f>Sheet1!$B$2:$B$5</c:f>
              <c:numCache>
                <c:formatCode>General</c:formatCode>
                <c:ptCount val="4"/>
                <c:pt idx="0">
                  <c:v>2.6</c:v>
                </c:pt>
                <c:pt idx="1">
                  <c:v>2</c:v>
                </c:pt>
                <c:pt idx="2">
                  <c:v>13.3</c:v>
                </c:pt>
                <c:pt idx="3">
                  <c:v>1.6</c:v>
                </c:pt>
              </c:numCache>
            </c:numRef>
          </c:val>
        </c:ser>
        <c:ser>
          <c:idx val="1"/>
          <c:order val="1"/>
          <c:tx>
            <c:strRef>
              <c:f>Sheet1!$C$1</c:f>
              <c:strCache>
                <c:ptCount val="1"/>
                <c:pt idx="0">
                  <c:v>Conformal + ERF</c:v>
                </c:pt>
              </c:strCache>
            </c:strRef>
          </c:tx>
          <c:spPr>
            <a:solidFill>
              <a:srgbClr val="0F766E"/>
            </a:solidFill>
            <a:effectLst/>
          </c:spPr>
          <c:invertIfNegative val="0"/>
          <c:dLbls>
            <c:numFmt formatCode="0.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cat>
            <c:multiLvlStrRef>
              <c:f>Sheet1!$A$2:$A$5</c:f>
              <c:multiLvlStrCache>
                <c:ptCount val="4"/>
                <c:lvl>
                  <c:pt idx="0">
                    <c:v>Upcoding</c:v>
                  </c:pt>
                  <c:pt idx="1">
                    <c:v>Unbundling</c:v>
                  </c:pt>
                  <c:pt idx="2">
                    <c:v>Phantom</c:v>
                  </c:pt>
                  <c:pt idx="3">
                    <c:v>Collusion</c:v>
                  </c:pt>
                </c:lvl>
              </c:multiLvlStrCache>
            </c:multiLvlStrRef>
          </c:cat>
          <c:val>
            <c:numRef>
              <c:f>Sheet1!$C$2:$C$5</c:f>
              <c:numCache>
                <c:formatCode>General</c:formatCode>
                <c:ptCount val="4"/>
                <c:pt idx="0">
                  <c:v>0.6</c:v>
                </c:pt>
                <c:pt idx="1">
                  <c:v>0.3</c:v>
                </c:pt>
                <c:pt idx="2">
                  <c:v>2.6</c:v>
                </c:pt>
                <c:pt idx="3">
                  <c:v>0.2</c:v>
                </c:pt>
              </c:numCache>
            </c:numRef>
          </c:val>
        </c:ser>
        <c:dLbls>
          <c:numFmt formatCode="0.0" sourceLinked="0"/>
          <c:txPr>
            <a:bodyPr/>
            <a:lstStyle/>
            <a:p>
              <a:pPr>
                <a:defRPr b="0" i="0" strike="noStrike" sz="1100" u="none">
                  <a:solidFill>
                    <a:srgbClr val="1F2937"/>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1F2937"/>
                </a:solidFill>
                <a:latin typeface="+mn-lt"/>
              </a:defRPr>
            </a:pPr>
            <a:endParaRPr lang="en-US"/>
          </a:p>
        </c:txPr>
        <c:crossAx val="2094734552"/>
        <c:crosses val="autoZero"/>
        <c:auto val="1"/>
        <c:lblAlgn val="ctr"/>
        <c:noMultiLvlLbl val="1"/>
      </c:catAx>
      <c:valAx>
        <c:axId val="2094734552"/>
        <c:scaling>
          <c:orientation val="minMax"/>
          <c:max val="16"/>
          <c:min val="0"/>
        </c:scaling>
        <c:delete val="0"/>
        <c:axPos val="l"/>
        <c:majorGridlines>
          <c:spPr>
            <a:ln w="6350" cap="flat">
              <a:solidFill>
                <a:srgbClr val="E5E7EB"/>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6B7280"/>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2937"/>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a fraud-detection pipeline for health-insurance claims that flags a claim only when it is both unfamiliar to the model and unexplained by its clinical context. Say up front that the numbers in this deck come from a synthetic-data prototype.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 modes. (1) Closed-world: softmax must choose a known class, so a brand-new scheme is forced into the nearest old one, often with high confidence. (2) Rarity is not fraud: polytrauma or chronic dialysis claims are rare, complex and expensive, so anomaly detectors flag them and delay genuine care. (3) Alert fatigue: raw anomaly scores have no probabilistic meaning, so fixed thresholds drift and investigators are swamped. Context: large claim volumes under IRDAI-regulated insurance and AB-PMJAY make full manual review impractical.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Unfamiliar is necessary but not sufficient. A claim is escalated only when it is unfamiliar to the model AND unexplained by clinical context. The bottom-left cell, familiar but unexplained, is handled by the ordinary known-fraud classifier. The top-left cell is the new contribution: rare but explained claims are settled without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Boxes 1 to 4 learn a representation with deep learning: the claim stream builds a time-stamped graph using only edges before the claim time, a deep encoder embeds each claim, and a classifier over known classes gives logits. Boxes 5 to 8 make the decision with statistics and clustering: a novelty score from energy and Mahalanobis distance, a conformal gate, the Explained-Rarity Filter, and finally the audit queue with cluster cards.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branch sees a different view of a claim. The LSTM reads the sequence of recent claims for the provider or beneficiary and captures bursts and drift. The 1D-CNN slides over the ordered procedure-code sequence inside one claim and learns local code patterns such as unbundled packages. The Transformer encoder lets a CLS token attend over relational context tokens: claim, hospital, doctor, package, diagnosis and neighbours; in the graph version this is replaced by a Heterogeneous Graph Transformer. Be honest in the defense: the branches are only justified if an ablation shows each one helps.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three branch outputs are concatenated and fused into one embedding h. Two heads sit on top. The classifier head gives logits over known classes and is trained with cross-entropy plus a squared-hinge energy-margin loss: known claims should have low energy, pseudo-novel claims high energy. In each training episode one known fraud class is masked and treated as pseudo-novel, so the network learns the concept of unfamiliar structure from internal data only. The expectation head takes exogenous inputs only and predicts a mean and standard deviation for log-amount and length of stay, trained with Gaussian negative log-likelihood on benign claims only. Exogenous means not manipulable by the claimant; otherwise upcoding would make fraud look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Energy comes from the classifier logits: it is low when one class dominates and high when logits are weak, which is typical for unfamiliar claims. Mahalanobis distance measures how far the embedding sits from the nearest known-class cluster using that class's mean and covariance. Each score is converted through its empirical CDF on training data so they are on the same scale, then averaged into one novelty score between 0 and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Split conformal prediction turns the novelty score into a p-value on a calibration window that is disjoint from training and contains only known-class claims. If the p-value is at most alpha, the claim is rejected as unfamiliar. Under exchangeability this controls the false-rejection rate near alpha, which lets the audit team set an alert budget. Caveat for the defense: the guarantee is marginal, a temporal claim stream violates exchangeability, and the guarantee does not carry through the later explained-rarity filter. We test drift empirically instead of assuming it away.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heteroscedastic network trained only on benign claims predicts the expected mean and spread of log-amount and length of stay from exogenous inputs such as a severity proxy from prior history, comorbidities and age. The inconsistency ratio a is the largest positive standardised residual across the targets. A polytrauma claim is expensive but the model expects that, with wide spread, so a stays below the threshold and the claim is explained. Phantom billing shows a high amount with a one-day stay at low severity, so a is large and the claim is escalated. The threshold tau is calibrated on benign claims rather than hand-set. Design rule: inputs must be exogenous, because upcoding changes the claimed diagnosis and would otherwise make fraud look explained.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Leave-one-mechanism-out: in each run, one fraud mechanism is hidden from training and calibration, and the model must recognise it as unfamiliar at test time. All four mechanisms rotate through the held-out role. Splits are random on the synthetic data in the prototype; the full study needs temporal splits. Five seeds were used. The baseline is an Isolation Forest whose alert count is matched to the number of escalations.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numbers are from the tabular prototype on synthetic data, mean of five seeds, with no deep models. The conformal stage rejects about 4.3 to 4.6 percent of benign claims, close to the nominal 5 percent on this i.i.d. split. After the explained-rarity filter, benign escalation falls to roughly 0.5 percent. The chart shows rare-severe legitimate claims flagged: for phantom billing it drops from 13.3 to 2.6 percent. The cost is recall: for collusion, which the prototype only proxies with two tabular features, recall on the hidden mechanism falls from 0.586 to 0.211. Say clearly that this is synthetic and generator-dependent, and not evidence of real-world performance.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one claim. A hospital submits it to the insurer or TPA. The system updates the graph using only edges that existed before the claim time and scores the claim. It is then routed to one of three lanes: fast-track settlement, settle with a note when it is rare but explained, or escalate to the audit queue with a cluster card. The auditor makes the final decision and the outcomes feed the next calibration window. This is decision support, not automatic denial. Nothing here has been deployed or tested with a real insurer.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mock-up, not real data. After escalation, HDBSCAN groups the escalated claims using embeddings, residuals and motif histograms, without a preset cluster count. Each cluster gets a card with time span, provider concentration and deviating signals, framed as a triage hypothesis rather than a verdict. The alpha value is the audit-capacity knob.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exactly what the delivered core script uses today. It has no deep learning; the novelty, conformal and filter stages are implemented with scikit-learn and NumPy, and the heteroscedastic network is approximated with gradient boosting. Right: the deep and graph version. The PyTorch encoder file contains the LSTM, 1D-CNN and Transformer branches plus the losses; it has been syntax-checked but not trained or evaluated. PyTorch Geometric would supply R-GCN or HGT on the time-stamped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direct with the faculty. Working today: the tabular prototype runs end to end on synthetic data and the paper draft exists. Written but not trained: the LSTM, 1D-CNN and Transformer branches. Not done: training and ablating those branches, a graph encoder in PyTorch Geometric, a real public dataset, and stronger baselines. Risks: synthetic-only evidence, conformal validity under temporal drift, and the need for exogenous filter inputs. The generator also has to be extended to produce sequences before the deep branches can learn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First extend the synthetic generator so claims carry history sequences and code sequences. Second train the deep branches and run ablations: full model, without LSTM, without CNN, without Transformer. Third add the baselines. Fourth validate on a real public claims dataset. Fifth write up and submit. Dates depend on venue calendars, so check official sites.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every reference against the original source before submission; this list was assembled from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LIDE">
    <p:bg>
      <p:bgPr>
        <a:solidFill>
          <a:srgbClr val="FFF3E8"/>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097280"/>
            <a:ext cx="4937760" cy="1554480"/>
          </a:xfrm>
          <a:prstGeom prst="rect">
            <a:avLst/>
          </a:prstGeom>
          <a:noFill/>
          <a:ln/>
        </p:spPr>
        <p:txBody>
          <a:bodyPr wrap="square" rtlCol="0"/>
          <a:lstStyle>
            <a:lvl1pPr algn="l" indent="0" marL="0">
              <a:buNone/>
              <a:defRPr lang="en-US" sz="4400" b="1" dirty="0">
                <a:solidFill>
                  <a:schemeClr val="tx1"/>
                </a:solidFill>
              </a:defRPr>
            </a:lvl1pPr>
          </a:lstStyle>
          <a:p>
            <a:pPr algn="l" indent="0" marL="0">
              <a:buNone/>
            </a:pPr>
            <a:endParaRPr lang="en-US" sz="4400" dirty="0"/>
          </a:p>
        </p:txBody>
      </p:sp>
      <p:sp>
        <p:nvSpPr>
          <p:cNvPr id="3" name="Text 0"/>
          <p:cNvSpPr/>
          <p:nvPr>
            <p:ph idx="101" type="body" hasCustomPrompt="1"/>
          </p:nvPr>
        </p:nvSpPr>
        <p:spPr>
          <a:xfrm>
            <a:off x="548640" y="2788920"/>
            <a:ext cx="4937760" cy="1005840"/>
          </a:xfrm>
          <a:prstGeom prst="rect">
            <a:avLst/>
          </a:prstGeom>
          <a:noFill/>
          <a:ln/>
        </p:spPr>
        <p:txBody>
          <a:bodyPr wrap="square" rtlCol="0"/>
          <a:lstStyle>
            <a:lvl1pPr algn="l" indent="0" marL="0">
              <a:buNone/>
              <a:defRPr lang="en-US" sz="1800" dirty="0">
                <a:solidFill>
                  <a:schemeClr val="tx2"/>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3.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3.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Gradient panel" descr="/tmp/grad.png">    </p:cNvPr>
          <p:cNvPicPr>
            <a:picLocks noChangeAspect="1"/>
          </p:cNvPicPr>
          <p:nvPr/>
        </p:nvPicPr>
        <p:blipFill>
          <a:blip r:embed="rId1"/>
          <a:stretch>
            <a:fillRect/>
          </a:stretch>
        </p:blipFill>
        <p:spPr>
          <a:xfrm>
            <a:off x="5852160" y="0"/>
            <a:ext cx="3291840" cy="5143500"/>
          </a:xfrm>
          <a:prstGeom prst="rect">
            <a:avLst/>
          </a:prstGeom>
        </p:spPr>
      </p:pic>
      <p:sp>
        <p:nvSpPr>
          <p:cNvPr id="3" name="Text 0"/>
          <p:cNvSpPr/>
          <p:nvPr>
            <p:ph idx="100" type="title" hasCustomPrompt="1"/>
          </p:nvPr>
        </p:nvSpPr>
        <p:spPr>
          <a:xfrm>
            <a:off x="548640" y="1097280"/>
            <a:ext cx="4937760" cy="1554480"/>
          </a:xfrm>
          <a:prstGeom prst="rect">
            <a:avLst/>
          </a:prstGeom>
          <a:noFill/>
          <a:ln/>
        </p:spPr>
        <p:txBody>
          <a:bodyPr wrap="square" lIns="0" tIns="0" rIns="0" bIns="0" rtlCol="0" anchor="b"/>
          <a:lstStyle/>
          <a:p>
            <a:pPr algn="l" indent="0" marL="0">
              <a:buNone/>
            </a:pPr>
            <a:r>
              <a:rPr lang="en-US" sz="4400" b="1" dirty="0">
                <a:solidFill>
                  <a:schemeClr val="tx1"/>
                </a:solidFill>
              </a:rPr>
              <a:t>Explain Before You Flag</a:t>
            </a:r>
            <a:endParaRPr lang="en-US" sz="4400" dirty="0"/>
          </a:p>
        </p:txBody>
      </p:sp>
      <p:sp>
        <p:nvSpPr>
          <p:cNvPr id="4" name="Text 0"/>
          <p:cNvSpPr/>
          <p:nvPr>
            <p:ph idx="101" type="body" hasCustomPrompt="1"/>
          </p:nvPr>
        </p:nvSpPr>
        <p:spPr>
          <a:xfrm>
            <a:off x="548640" y="2788920"/>
            <a:ext cx="4937760" cy="1005840"/>
          </a:xfrm>
          <a:prstGeom prst="rect">
            <a:avLst/>
          </a:prstGeom>
          <a:noFill/>
          <a:ln/>
        </p:spPr>
        <p:txBody>
          <a:bodyPr wrap="square" lIns="0" tIns="0" rIns="0" bIns="0" rtlCol="0" anchor="t"/>
          <a:lstStyle/>
          <a:p>
            <a:pPr algn="l" indent="0" marL="0">
              <a:buNone/>
            </a:pPr>
            <a:r>
              <a:rPr lang="en-US" sz="1800" dirty="0">
                <a:solidFill>
                  <a:schemeClr val="tx2"/>
                </a:solidFill>
              </a:rPr>
              <a:t>Open-World Explained-Rarity Filtering (OW-ERF) for health-insurance claim fraud</a:t>
            </a:r>
            <a:endParaRPr lang="en-US" sz="1800" dirty="0"/>
          </a:p>
        </p:txBody>
      </p:sp>
      <p:sp>
        <p:nvSpPr>
          <p:cNvPr id="5" name="Panel label"/>
          <p:cNvSpPr txBox="1"/>
          <p:nvPr/>
        </p:nvSpPr>
        <p:spPr>
          <a:xfrm>
            <a:off x="5852160" y="2011680"/>
            <a:ext cx="3291840" cy="914400"/>
          </a:xfrm>
          <a:prstGeom prst="rect">
            <a:avLst/>
          </a:prstGeom>
          <a:noFill/>
          <a:ln/>
        </p:spPr>
        <p:txBody>
          <a:bodyPr wrap="square" lIns="0" tIns="0" rIns="0" bIns="0" rtlCol="0" anchor="ctr"/>
          <a:lstStyle/>
          <a:p>
            <a:pPr algn="ctr" indent="0" marL="0">
              <a:buNone/>
            </a:pPr>
            <a:r>
              <a:rPr lang="en-US" sz="4400" b="1" dirty="0">
                <a:solidFill>
                  <a:srgbClr val="FFFFFF"/>
                </a:solidFill>
              </a:rPr>
              <a:t>OW-ERF</a:t>
            </a:r>
            <a:endParaRPr lang="en-US" sz="4400" dirty="0"/>
          </a:p>
        </p:txBody>
      </p:sp>
      <p:sp>
        <p:nvSpPr>
          <p:cNvPr id="6" name="Footer line"/>
          <p:cNvSpPr txBox="1"/>
          <p:nvPr/>
        </p:nvSpPr>
        <p:spPr>
          <a:xfrm>
            <a:off x="548640" y="4251960"/>
            <a:ext cx="4937760" cy="365760"/>
          </a:xfrm>
          <a:prstGeom prst="rect">
            <a:avLst/>
          </a:prstGeom>
          <a:noFill/>
          <a:ln/>
        </p:spPr>
        <p:txBody>
          <a:bodyPr wrap="square" lIns="0" tIns="0" rIns="0" bIns="0" rtlCol="0" anchor="t"/>
          <a:lstStyle/>
          <a:p>
            <a:pPr indent="0" marL="0">
              <a:buNone/>
            </a:pPr>
            <a:r>
              <a:rPr lang="en-US" sz="1100" dirty="0">
                <a:solidFill>
                  <a:schemeClr val="tx1"/>
                </a:solidFill>
              </a:rPr>
              <a:t>Ishant Pant | Research Supervisor: Dr. Sandeep Gupta</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Why current detectors fail</a:t>
            </a:r>
            <a:endParaRPr lang="en-US" sz="3400" dirty="0"/>
          </a:p>
        </p:txBody>
      </p:sp>
      <p:sp>
        <p:nvSpPr>
          <p:cNvPr id="4" name="Card 1"/>
          <p:cNvSpPr/>
          <p:nvPr/>
        </p:nvSpPr>
        <p:spPr>
          <a:xfrm>
            <a:off x="457200" y="1280160"/>
            <a:ext cx="2560320" cy="2926080"/>
          </a:xfrm>
          <a:prstGeom prst="roundRect">
            <a:avLst>
              <a:gd name="adj" fmla="val 4286"/>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5" name="Icon 1 circle"/>
          <p:cNvSpPr/>
          <p:nvPr/>
        </p:nvSpPr>
        <p:spPr>
          <a:xfrm>
            <a:off x="685800" y="1508760"/>
            <a:ext cx="685800" cy="685800"/>
          </a:xfrm>
          <a:prstGeom prst="ellipse">
            <a:avLst/>
          </a:prstGeom>
          <a:solidFill>
            <a:srgbClr val="F26B1D"/>
          </a:solidFill>
          <a:ln w="12700">
            <a:solidFill>
              <a:srgbClr val="F26B1D"/>
            </a:solidFill>
            <a:prstDash val="solid"/>
          </a:ln>
        </p:spPr>
      </p:sp>
      <p:pic>
        <p:nvPicPr>
          <p:cNvPr id="6" name="Icon 1" descr="preencoded.png">    </p:cNvPr>
          <p:cNvPicPr>
            <a:picLocks noChangeAspect="1"/>
          </p:cNvPicPr>
          <p:nvPr/>
        </p:nvPicPr>
        <p:blipFill>
          <a:blip r:embed="rId1"/>
          <a:stretch>
            <a:fillRect/>
          </a:stretch>
        </p:blipFill>
        <p:spPr>
          <a:xfrm>
            <a:off x="857250" y="1680210"/>
            <a:ext cx="342900" cy="342900"/>
          </a:xfrm>
          <a:prstGeom prst="rect">
            <a:avLst/>
          </a:prstGeom>
        </p:spPr>
      </p:pic>
      <p:sp>
        <p:nvSpPr>
          <p:cNvPr id="7" name="Card head 1"/>
          <p:cNvSpPr txBox="1"/>
          <p:nvPr/>
        </p:nvSpPr>
        <p:spPr>
          <a:xfrm>
            <a:off x="685800" y="2331720"/>
            <a:ext cx="2103120" cy="365760"/>
          </a:xfrm>
          <a:prstGeom prst="rect">
            <a:avLst/>
          </a:prstGeom>
          <a:noFill/>
          <a:ln/>
        </p:spPr>
        <p:txBody>
          <a:bodyPr wrap="square" lIns="0" tIns="0" rIns="0" bIns="0" rtlCol="0" anchor="t"/>
          <a:lstStyle/>
          <a:p>
            <a:pPr indent="0" marL="0">
              <a:buNone/>
            </a:pPr>
            <a:r>
              <a:rPr lang="en-US" sz="2000" b="1" dirty="0">
                <a:solidFill>
                  <a:schemeClr val="tx1"/>
                </a:solidFill>
              </a:rPr>
              <a:t>Closed world</a:t>
            </a:r>
            <a:endParaRPr lang="en-US" sz="2000" dirty="0"/>
          </a:p>
        </p:txBody>
      </p:sp>
      <p:sp>
        <p:nvSpPr>
          <p:cNvPr id="8" name="Card body 1"/>
          <p:cNvSpPr txBox="1"/>
          <p:nvPr/>
        </p:nvSpPr>
        <p:spPr>
          <a:xfrm>
            <a:off x="685800" y="2743200"/>
            <a:ext cx="2103120" cy="1371600"/>
          </a:xfrm>
          <a:prstGeom prst="rect">
            <a:avLst/>
          </a:prstGeom>
          <a:noFill/>
          <a:ln/>
        </p:spPr>
        <p:txBody>
          <a:bodyPr wrap="square" lIns="0" tIns="0" rIns="0" bIns="0" rtlCol="0" anchor="t"/>
          <a:lstStyle/>
          <a:p>
            <a:pPr indent="0" marL="0">
              <a:buNone/>
            </a:pPr>
            <a:r>
              <a:rPr lang="en-US" sz="1400" dirty="0">
                <a:solidFill>
                  <a:schemeClr val="tx1"/>
                </a:solidFill>
              </a:rPr>
              <a:t>A softmax classifier must pick a known class, so a new fraud scheme is labelled as the nearest old one, often with high confidence.</a:t>
            </a:r>
            <a:endParaRPr lang="en-US" sz="1400" dirty="0"/>
          </a:p>
        </p:txBody>
      </p:sp>
      <p:sp>
        <p:nvSpPr>
          <p:cNvPr id="9" name="Card 2"/>
          <p:cNvSpPr/>
          <p:nvPr/>
        </p:nvSpPr>
        <p:spPr>
          <a:xfrm>
            <a:off x="3291840" y="1280160"/>
            <a:ext cx="2560320" cy="2926080"/>
          </a:xfrm>
          <a:prstGeom prst="roundRect">
            <a:avLst>
              <a:gd name="adj" fmla="val 4286"/>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10" name="Icon 2 circle"/>
          <p:cNvSpPr/>
          <p:nvPr/>
        </p:nvSpPr>
        <p:spPr>
          <a:xfrm>
            <a:off x="3520440" y="1508760"/>
            <a:ext cx="685800" cy="685800"/>
          </a:xfrm>
          <a:prstGeom prst="ellipse">
            <a:avLst/>
          </a:prstGeom>
          <a:solidFill>
            <a:srgbClr val="F26B1D"/>
          </a:solidFill>
          <a:ln w="12700">
            <a:solidFill>
              <a:srgbClr val="F26B1D"/>
            </a:solidFill>
            <a:prstDash val="solid"/>
          </a:ln>
        </p:spPr>
      </p:sp>
      <p:pic>
        <p:nvPicPr>
          <p:cNvPr id="11" name="Icon 2" descr="preencoded.png">    </p:cNvPr>
          <p:cNvPicPr>
            <a:picLocks noChangeAspect="1"/>
          </p:cNvPicPr>
          <p:nvPr/>
        </p:nvPicPr>
        <p:blipFill>
          <a:blip r:embed="rId2"/>
          <a:stretch>
            <a:fillRect/>
          </a:stretch>
        </p:blipFill>
        <p:spPr>
          <a:xfrm>
            <a:off x="3691890" y="1680210"/>
            <a:ext cx="342900" cy="342900"/>
          </a:xfrm>
          <a:prstGeom prst="rect">
            <a:avLst/>
          </a:prstGeom>
        </p:spPr>
      </p:pic>
      <p:sp>
        <p:nvSpPr>
          <p:cNvPr id="12" name="Card head 2"/>
          <p:cNvSpPr txBox="1"/>
          <p:nvPr/>
        </p:nvSpPr>
        <p:spPr>
          <a:xfrm>
            <a:off x="3520440" y="2331720"/>
            <a:ext cx="2103120" cy="365760"/>
          </a:xfrm>
          <a:prstGeom prst="rect">
            <a:avLst/>
          </a:prstGeom>
          <a:noFill/>
          <a:ln/>
        </p:spPr>
        <p:txBody>
          <a:bodyPr wrap="square" lIns="0" tIns="0" rIns="0" bIns="0" rtlCol="0" anchor="t"/>
          <a:lstStyle/>
          <a:p>
            <a:pPr indent="0" marL="0">
              <a:buNone/>
            </a:pPr>
            <a:r>
              <a:rPr lang="en-US" sz="2000" b="1" dirty="0">
                <a:solidFill>
                  <a:schemeClr val="tx1"/>
                </a:solidFill>
              </a:rPr>
              <a:t>Rare is not fraud</a:t>
            </a:r>
            <a:endParaRPr lang="en-US" sz="2000" dirty="0"/>
          </a:p>
        </p:txBody>
      </p:sp>
      <p:sp>
        <p:nvSpPr>
          <p:cNvPr id="13" name="Card body 2"/>
          <p:cNvSpPr txBox="1"/>
          <p:nvPr/>
        </p:nvSpPr>
        <p:spPr>
          <a:xfrm>
            <a:off x="3520440" y="2743200"/>
            <a:ext cx="2103120" cy="1371600"/>
          </a:xfrm>
          <a:prstGeom prst="rect">
            <a:avLst/>
          </a:prstGeom>
          <a:noFill/>
          <a:ln/>
        </p:spPr>
        <p:txBody>
          <a:bodyPr wrap="square" lIns="0" tIns="0" rIns="0" bIns="0" rtlCol="0" anchor="t"/>
          <a:lstStyle/>
          <a:p>
            <a:pPr indent="0" marL="0">
              <a:buNone/>
            </a:pPr>
            <a:r>
              <a:rPr lang="en-US" sz="1400" dirty="0">
                <a:solidFill>
                  <a:schemeClr val="tx1"/>
                </a:solidFill>
              </a:rPr>
              <a:t>Polytrauma or dialysis cases are rare, complex and costly. Pure anomaly detectors flag them and delay genuine care.</a:t>
            </a:r>
            <a:endParaRPr lang="en-US" sz="1400" dirty="0"/>
          </a:p>
        </p:txBody>
      </p:sp>
      <p:sp>
        <p:nvSpPr>
          <p:cNvPr id="14" name="Card 3"/>
          <p:cNvSpPr/>
          <p:nvPr/>
        </p:nvSpPr>
        <p:spPr>
          <a:xfrm>
            <a:off x="6126480" y="1280160"/>
            <a:ext cx="2560320" cy="2926080"/>
          </a:xfrm>
          <a:prstGeom prst="roundRect">
            <a:avLst>
              <a:gd name="adj" fmla="val 4286"/>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15" name="Icon 3 circle"/>
          <p:cNvSpPr/>
          <p:nvPr/>
        </p:nvSpPr>
        <p:spPr>
          <a:xfrm>
            <a:off x="6355080" y="1508760"/>
            <a:ext cx="685800" cy="685800"/>
          </a:xfrm>
          <a:prstGeom prst="ellipse">
            <a:avLst/>
          </a:prstGeom>
          <a:solidFill>
            <a:srgbClr val="F26B1D"/>
          </a:solidFill>
          <a:ln w="12700">
            <a:solidFill>
              <a:srgbClr val="F26B1D"/>
            </a:solidFill>
            <a:prstDash val="solid"/>
          </a:ln>
        </p:spPr>
      </p:sp>
      <p:pic>
        <p:nvPicPr>
          <p:cNvPr id="16" name="Icon 3" descr="preencoded.png">    </p:cNvPr>
          <p:cNvPicPr>
            <a:picLocks noChangeAspect="1"/>
          </p:cNvPicPr>
          <p:nvPr/>
        </p:nvPicPr>
        <p:blipFill>
          <a:blip r:embed="rId3"/>
          <a:stretch>
            <a:fillRect/>
          </a:stretch>
        </p:blipFill>
        <p:spPr>
          <a:xfrm>
            <a:off x="6526530" y="1680210"/>
            <a:ext cx="342900" cy="342900"/>
          </a:xfrm>
          <a:prstGeom prst="rect">
            <a:avLst/>
          </a:prstGeom>
        </p:spPr>
      </p:pic>
      <p:sp>
        <p:nvSpPr>
          <p:cNvPr id="17" name="Card head 3"/>
          <p:cNvSpPr txBox="1"/>
          <p:nvPr/>
        </p:nvSpPr>
        <p:spPr>
          <a:xfrm>
            <a:off x="6355080" y="2331720"/>
            <a:ext cx="2103120" cy="365760"/>
          </a:xfrm>
          <a:prstGeom prst="rect">
            <a:avLst/>
          </a:prstGeom>
          <a:noFill/>
          <a:ln/>
        </p:spPr>
        <p:txBody>
          <a:bodyPr wrap="square" lIns="0" tIns="0" rIns="0" bIns="0" rtlCol="0" anchor="t"/>
          <a:lstStyle/>
          <a:p>
            <a:pPr indent="0" marL="0">
              <a:buNone/>
            </a:pPr>
            <a:r>
              <a:rPr lang="en-US" sz="2000" b="1" dirty="0">
                <a:solidFill>
                  <a:schemeClr val="tx1"/>
                </a:solidFill>
              </a:rPr>
              <a:t>Alert fatigue</a:t>
            </a:r>
            <a:endParaRPr lang="en-US" sz="2000" dirty="0"/>
          </a:p>
        </p:txBody>
      </p:sp>
      <p:sp>
        <p:nvSpPr>
          <p:cNvPr id="18" name="Card body 3"/>
          <p:cNvSpPr txBox="1"/>
          <p:nvPr/>
        </p:nvSpPr>
        <p:spPr>
          <a:xfrm>
            <a:off x="6355080" y="2743200"/>
            <a:ext cx="2103120" cy="1371600"/>
          </a:xfrm>
          <a:prstGeom prst="rect">
            <a:avLst/>
          </a:prstGeom>
          <a:noFill/>
          <a:ln/>
        </p:spPr>
        <p:txBody>
          <a:bodyPr wrap="square" lIns="0" tIns="0" rIns="0" bIns="0" rtlCol="0" anchor="t"/>
          <a:lstStyle/>
          <a:p>
            <a:pPr indent="0" marL="0">
              <a:buNone/>
            </a:pPr>
            <a:r>
              <a:rPr lang="en-US" sz="1400" dirty="0">
                <a:solidFill>
                  <a:schemeClr val="tx1"/>
                </a:solidFill>
              </a:rPr>
              <a:t>Raw scores carry no statistical meaning, so fixed thresholds drift and auditors drown in false alarms.</a:t>
            </a:r>
            <a:endParaRPr lang="en-US" sz="1400" dirty="0"/>
          </a:p>
        </p:txBody>
      </p:sp>
      <p:sp>
        <p:nvSpPr>
          <p:cNvPr id="19" name="Context caption"/>
          <p:cNvSpPr txBox="1"/>
          <p:nvPr/>
        </p:nvSpPr>
        <p:spPr>
          <a:xfrm>
            <a:off x="457200" y="4389120"/>
            <a:ext cx="7680960" cy="365760"/>
          </a:xfrm>
          <a:prstGeom prst="rect">
            <a:avLst/>
          </a:prstGeom>
          <a:noFill/>
          <a:ln/>
        </p:spPr>
        <p:txBody>
          <a:bodyPr wrap="square" lIns="0" tIns="0" rIns="0" bIns="0" rtlCol="0" anchor="t"/>
          <a:lstStyle/>
          <a:p>
            <a:pPr indent="0" marL="0">
              <a:buNone/>
            </a:pPr>
            <a:r>
              <a:rPr lang="en-US" sz="1200" dirty="0">
                <a:solidFill>
                  <a:schemeClr val="accent4"/>
                </a:solidFill>
              </a:rPr>
              <a:t>Context: large claim volumes under IRDAI-regulated insurance and AB-PMJAY make full manual review impractical.</a:t>
            </a:r>
            <a:endParaRPr lang="en-US" sz="12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The core idea</a:t>
            </a:r>
            <a:endParaRPr lang="en-US" sz="3400" dirty="0"/>
          </a:p>
        </p:txBody>
      </p:sp>
      <p:sp>
        <p:nvSpPr>
          <p:cNvPr id="4" name="Col label 1"/>
          <p:cNvSpPr txBox="1"/>
          <p:nvPr/>
        </p:nvSpPr>
        <p:spPr>
          <a:xfrm>
            <a:off x="1371600" y="1234440"/>
            <a:ext cx="1920240" cy="274320"/>
          </a:xfrm>
          <a:prstGeom prst="rect">
            <a:avLst/>
          </a:prstGeom>
          <a:noFill/>
          <a:ln/>
        </p:spPr>
        <p:txBody>
          <a:bodyPr wrap="square" lIns="0" tIns="0" rIns="0" bIns="0" rtlCol="0" anchor="t"/>
          <a:lstStyle/>
          <a:p>
            <a:pPr algn="ctr" indent="0" marL="0">
              <a:buNone/>
            </a:pPr>
            <a:r>
              <a:rPr lang="en-US" sz="1400" b="1" dirty="0">
                <a:solidFill>
                  <a:schemeClr val="tx1"/>
                </a:solidFill>
              </a:rPr>
              <a:t>Unexplained</a:t>
            </a:r>
            <a:endParaRPr lang="en-US" sz="1400" dirty="0"/>
          </a:p>
        </p:txBody>
      </p:sp>
      <p:sp>
        <p:nvSpPr>
          <p:cNvPr id="5" name="Col label 2"/>
          <p:cNvSpPr txBox="1"/>
          <p:nvPr/>
        </p:nvSpPr>
        <p:spPr>
          <a:xfrm>
            <a:off x="3401568" y="1234440"/>
            <a:ext cx="1920240" cy="274320"/>
          </a:xfrm>
          <a:prstGeom prst="rect">
            <a:avLst/>
          </a:prstGeom>
          <a:noFill/>
          <a:ln/>
        </p:spPr>
        <p:txBody>
          <a:bodyPr wrap="square" lIns="0" tIns="0" rIns="0" bIns="0" rtlCol="0" anchor="t"/>
          <a:lstStyle/>
          <a:p>
            <a:pPr algn="ctr" indent="0" marL="0">
              <a:buNone/>
            </a:pPr>
            <a:r>
              <a:rPr lang="en-US" sz="1400" b="1" dirty="0">
                <a:solidFill>
                  <a:schemeClr val="tx1"/>
                </a:solidFill>
              </a:rPr>
              <a:t>Explained</a:t>
            </a:r>
            <a:endParaRPr lang="en-US" sz="1400" dirty="0"/>
          </a:p>
        </p:txBody>
      </p:sp>
      <p:sp>
        <p:nvSpPr>
          <p:cNvPr id="6" name="Row label 1"/>
          <p:cNvSpPr txBox="1"/>
          <p:nvPr/>
        </p:nvSpPr>
        <p:spPr>
          <a:xfrm>
            <a:off x="320040" y="1600200"/>
            <a:ext cx="960120" cy="1325880"/>
          </a:xfrm>
          <a:prstGeom prst="rect">
            <a:avLst/>
          </a:prstGeom>
          <a:noFill/>
          <a:ln/>
        </p:spPr>
        <p:txBody>
          <a:bodyPr wrap="square" lIns="0" tIns="0" rIns="0" bIns="0" rtlCol="0" anchor="ctr"/>
          <a:lstStyle/>
          <a:p>
            <a:pPr algn="r" indent="0" marL="0">
              <a:buNone/>
            </a:pPr>
            <a:r>
              <a:rPr lang="en-US" sz="1400" b="1" dirty="0">
                <a:solidFill>
                  <a:schemeClr val="tx1"/>
                </a:solidFill>
              </a:rPr>
              <a:t>Unfamiliar</a:t>
            </a:r>
            <a:endParaRPr lang="en-US" sz="1400" dirty="0"/>
          </a:p>
        </p:txBody>
      </p:sp>
      <p:sp>
        <p:nvSpPr>
          <p:cNvPr id="7" name="Row label 2"/>
          <p:cNvSpPr txBox="1"/>
          <p:nvPr/>
        </p:nvSpPr>
        <p:spPr>
          <a:xfrm>
            <a:off x="320040" y="3035808"/>
            <a:ext cx="960120" cy="1325880"/>
          </a:xfrm>
          <a:prstGeom prst="rect">
            <a:avLst/>
          </a:prstGeom>
          <a:noFill/>
          <a:ln/>
        </p:spPr>
        <p:txBody>
          <a:bodyPr wrap="square" lIns="0" tIns="0" rIns="0" bIns="0" rtlCol="0" anchor="ctr"/>
          <a:lstStyle/>
          <a:p>
            <a:pPr algn="r" indent="0" marL="0">
              <a:buNone/>
            </a:pPr>
            <a:r>
              <a:rPr lang="en-US" sz="1400" b="1" dirty="0">
                <a:solidFill>
                  <a:schemeClr val="tx1"/>
                </a:solidFill>
              </a:rPr>
              <a:t>Familiar</a:t>
            </a:r>
            <a:endParaRPr lang="en-US" sz="1400" dirty="0"/>
          </a:p>
        </p:txBody>
      </p:sp>
      <p:sp>
        <p:nvSpPr>
          <p:cNvPr id="8" name="Cell 1"/>
          <p:cNvSpPr/>
          <p:nvPr/>
        </p:nvSpPr>
        <p:spPr>
          <a:xfrm>
            <a:off x="1371600" y="1600200"/>
            <a:ext cx="1920240" cy="1325880"/>
          </a:xfrm>
          <a:prstGeom prst="roundRect">
            <a:avLst>
              <a:gd name="adj" fmla="val 8276"/>
            </a:avLst>
          </a:prstGeom>
          <a:solidFill>
            <a:srgbClr val="F26B1D"/>
          </a:solidFill>
          <a:ln w="12700">
            <a:solidFill>
              <a:srgbClr val="F26B1D"/>
            </a:solidFill>
            <a:prstDash val="solid"/>
          </a:ln>
        </p:spPr>
      </p:sp>
      <p:sp>
        <p:nvSpPr>
          <p:cNvPr id="9" name="Cell text 1"/>
          <p:cNvSpPr txBox="1"/>
          <p:nvPr/>
        </p:nvSpPr>
        <p:spPr>
          <a:xfrm>
            <a:off x="1508760" y="1600200"/>
            <a:ext cx="1645920" cy="1325880"/>
          </a:xfrm>
          <a:prstGeom prst="rect">
            <a:avLst/>
          </a:prstGeom>
          <a:noFill/>
          <a:ln/>
        </p:spPr>
        <p:txBody>
          <a:bodyPr wrap="square" lIns="0" tIns="0" rIns="0" bIns="0" rtlCol="0" anchor="ctr"/>
          <a:lstStyle/>
          <a:p>
            <a:pPr algn="ctr" indent="0" marL="0">
              <a:buNone/>
            </a:pPr>
            <a:r>
              <a:rPr lang="en-US" sz="1600" b="1" dirty="0">
                <a:solidFill>
                  <a:srgbClr val="FFFFFF"/>
                </a:solidFill>
              </a:rPr>
              <a:t>ESCALATE to audit</a:t>
            </a:r>
            <a:endParaRPr lang="en-US" sz="1600" dirty="0"/>
          </a:p>
        </p:txBody>
      </p:sp>
      <p:sp>
        <p:nvSpPr>
          <p:cNvPr id="10" name="Cell 2"/>
          <p:cNvSpPr/>
          <p:nvPr/>
        </p:nvSpPr>
        <p:spPr>
          <a:xfrm>
            <a:off x="3401568" y="1600200"/>
            <a:ext cx="1920240" cy="1325880"/>
          </a:xfrm>
          <a:prstGeom prst="roundRect">
            <a:avLst>
              <a:gd name="adj" fmla="val 8276"/>
            </a:avLst>
          </a:prstGeom>
          <a:solidFill>
            <a:srgbClr val="0F766E"/>
          </a:solidFill>
          <a:ln w="12700">
            <a:solidFill>
              <a:srgbClr val="0F766E"/>
            </a:solidFill>
            <a:prstDash val="solid"/>
          </a:ln>
        </p:spPr>
      </p:sp>
      <p:sp>
        <p:nvSpPr>
          <p:cNvPr id="11" name="Cell text 2"/>
          <p:cNvSpPr txBox="1"/>
          <p:nvPr/>
        </p:nvSpPr>
        <p:spPr>
          <a:xfrm>
            <a:off x="3538728" y="1600200"/>
            <a:ext cx="1645920" cy="1325880"/>
          </a:xfrm>
          <a:prstGeom prst="rect">
            <a:avLst/>
          </a:prstGeom>
          <a:noFill/>
          <a:ln/>
        </p:spPr>
        <p:txBody>
          <a:bodyPr wrap="square" lIns="0" tIns="0" rIns="0" bIns="0" rtlCol="0" anchor="ctr"/>
          <a:lstStyle/>
          <a:p>
            <a:pPr algn="ctr" indent="0" marL="0">
              <a:buNone/>
            </a:pPr>
            <a:r>
              <a:rPr lang="en-US" sz="1600" b="1" dirty="0">
                <a:solidFill>
                  <a:srgbClr val="FFFFFF"/>
                </a:solidFill>
              </a:rPr>
              <a:t>Rare but legitimate: settle with a note</a:t>
            </a:r>
            <a:endParaRPr lang="en-US" sz="1600" dirty="0"/>
          </a:p>
        </p:txBody>
      </p:sp>
      <p:sp>
        <p:nvSpPr>
          <p:cNvPr id="12" name="Cell 3"/>
          <p:cNvSpPr/>
          <p:nvPr/>
        </p:nvSpPr>
        <p:spPr>
          <a:xfrm>
            <a:off x="1371600" y="3035808"/>
            <a:ext cx="1920240" cy="1325880"/>
          </a:xfrm>
          <a:prstGeom prst="roundRect">
            <a:avLst>
              <a:gd name="adj" fmla="val 8276"/>
            </a:avLst>
          </a:prstGeom>
          <a:solidFill>
            <a:srgbClr val="E5E7EB"/>
          </a:solidFill>
          <a:ln w="12700">
            <a:solidFill>
              <a:srgbClr val="E5E7EB"/>
            </a:solidFill>
            <a:prstDash val="solid"/>
          </a:ln>
        </p:spPr>
      </p:sp>
      <p:sp>
        <p:nvSpPr>
          <p:cNvPr id="13" name="Cell text 3"/>
          <p:cNvSpPr txBox="1"/>
          <p:nvPr/>
        </p:nvSpPr>
        <p:spPr>
          <a:xfrm>
            <a:off x="1508760" y="3035808"/>
            <a:ext cx="1645920" cy="1325880"/>
          </a:xfrm>
          <a:prstGeom prst="rect">
            <a:avLst/>
          </a:prstGeom>
          <a:noFill/>
          <a:ln/>
        </p:spPr>
        <p:txBody>
          <a:bodyPr wrap="square" lIns="0" tIns="0" rIns="0" bIns="0" rtlCol="0" anchor="ctr"/>
          <a:lstStyle/>
          <a:p>
            <a:pPr algn="ctr" indent="0" marL="0">
              <a:buNone/>
            </a:pPr>
            <a:r>
              <a:rPr lang="en-US" sz="1600" b="1" dirty="0">
                <a:solidFill>
                  <a:srgbClr val="1F2937"/>
                </a:solidFill>
              </a:rPr>
              <a:t>Handled by the known-fraud classifier</a:t>
            </a:r>
            <a:endParaRPr lang="en-US" sz="1600" dirty="0"/>
          </a:p>
        </p:txBody>
      </p:sp>
      <p:sp>
        <p:nvSpPr>
          <p:cNvPr id="14" name="Cell 4"/>
          <p:cNvSpPr/>
          <p:nvPr/>
        </p:nvSpPr>
        <p:spPr>
          <a:xfrm>
            <a:off x="3401568" y="3035808"/>
            <a:ext cx="1920240" cy="1325880"/>
          </a:xfrm>
          <a:prstGeom prst="roundRect">
            <a:avLst>
              <a:gd name="adj" fmla="val 8276"/>
            </a:avLst>
          </a:prstGeom>
          <a:solidFill>
            <a:srgbClr val="FFF3E8"/>
          </a:solidFill>
          <a:ln w="12700">
            <a:solidFill>
              <a:srgbClr val="FFF3E8"/>
            </a:solidFill>
            <a:prstDash val="solid"/>
          </a:ln>
        </p:spPr>
      </p:sp>
      <p:sp>
        <p:nvSpPr>
          <p:cNvPr id="15" name="Cell text 4"/>
          <p:cNvSpPr txBox="1"/>
          <p:nvPr/>
        </p:nvSpPr>
        <p:spPr>
          <a:xfrm>
            <a:off x="3538728" y="3035808"/>
            <a:ext cx="1645920" cy="1325880"/>
          </a:xfrm>
          <a:prstGeom prst="rect">
            <a:avLst/>
          </a:prstGeom>
          <a:noFill/>
          <a:ln/>
        </p:spPr>
        <p:txBody>
          <a:bodyPr wrap="square" lIns="0" tIns="0" rIns="0" bIns="0" rtlCol="0" anchor="ctr"/>
          <a:lstStyle/>
          <a:p>
            <a:pPr algn="ctr" indent="0" marL="0">
              <a:buNone/>
            </a:pPr>
            <a:r>
              <a:rPr lang="en-US" sz="1600" b="1" dirty="0">
                <a:solidFill>
                  <a:srgbClr val="1F2937"/>
                </a:solidFill>
              </a:rPr>
              <a:t>Fast-track settlement</a:t>
            </a:r>
            <a:endParaRPr lang="en-US" sz="1600" dirty="0"/>
          </a:p>
        </p:txBody>
      </p:sp>
      <p:sp>
        <p:nvSpPr>
          <p:cNvPr id="16" name="Statement"/>
          <p:cNvSpPr txBox="1"/>
          <p:nvPr/>
        </p:nvSpPr>
        <p:spPr>
          <a:xfrm>
            <a:off x="5715000" y="1600200"/>
            <a:ext cx="2971800" cy="1188720"/>
          </a:xfrm>
          <a:prstGeom prst="rect">
            <a:avLst/>
          </a:prstGeom>
          <a:noFill/>
          <a:ln/>
        </p:spPr>
        <p:txBody>
          <a:bodyPr wrap="square" lIns="0" tIns="0" rIns="0" bIns="0" rtlCol="0" anchor="t"/>
          <a:lstStyle/>
          <a:p>
            <a:pPr indent="0" marL="0">
              <a:buNone/>
            </a:pPr>
            <a:r>
              <a:rPr lang="en-US" sz="2400" b="1" dirty="0">
                <a:solidFill>
                  <a:schemeClr val="tx2"/>
                </a:solidFill>
                <a:latin typeface="Cambria" pitchFamily="34" charset="0"/>
                <a:ea typeface="Cambria" pitchFamily="34" charset="-122"/>
                <a:cs typeface="Cambria" pitchFamily="34" charset="-120"/>
              </a:rPr>
              <a:t>Unfamiliar is necessary, not sufficient.</a:t>
            </a:r>
            <a:endParaRPr lang="en-US" sz="2400" dirty="0"/>
          </a:p>
        </p:txBody>
      </p:sp>
      <p:sp>
        <p:nvSpPr>
          <p:cNvPr id="17" name="Statement body"/>
          <p:cNvSpPr txBox="1"/>
          <p:nvPr/>
        </p:nvSpPr>
        <p:spPr>
          <a:xfrm>
            <a:off x="5715000" y="2926080"/>
            <a:ext cx="2971800" cy="1188720"/>
          </a:xfrm>
          <a:prstGeom prst="rect">
            <a:avLst/>
          </a:prstGeom>
          <a:noFill/>
          <a:ln/>
        </p:spPr>
        <p:txBody>
          <a:bodyPr wrap="square" lIns="0" tIns="0" rIns="0" bIns="0" rtlCol="0" anchor="t"/>
          <a:lstStyle/>
          <a:p>
            <a:pPr indent="0" marL="0">
              <a:buNone/>
            </a:pPr>
            <a:r>
              <a:rPr lang="en-US" sz="1400" dirty="0">
                <a:solidFill>
                  <a:schemeClr val="tx1"/>
                </a:solidFill>
              </a:rPr>
              <a:t>Escalate only when a claim is both unfamiliar to the model and unexplained by its clinical context.</a:t>
            </a:r>
            <a:endParaRPr lang="en-US" sz="1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System architecture</a:t>
            </a:r>
            <a:endParaRPr lang="en-US" sz="3400" dirty="0"/>
          </a:p>
        </p:txBody>
      </p:sp>
      <p:sp>
        <p:nvSpPr>
          <p:cNvPr id="4" name="Box 1"/>
          <p:cNvSpPr/>
          <p:nvPr/>
        </p:nvSpPr>
        <p:spPr>
          <a:xfrm>
            <a:off x="457200" y="1280160"/>
            <a:ext cx="1783080" cy="1005840"/>
          </a:xfrm>
          <a:prstGeom prst="roundRect">
            <a:avLst>
              <a:gd name="adj" fmla="val 10909"/>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5" name="Box text 1"/>
          <p:cNvSpPr txBox="1"/>
          <p:nvPr/>
        </p:nvSpPr>
        <p:spPr>
          <a:xfrm>
            <a:off x="566928" y="1280160"/>
            <a:ext cx="1563624" cy="1005840"/>
          </a:xfrm>
          <a:prstGeom prst="rect">
            <a:avLst/>
          </a:prstGeom>
          <a:noFill/>
          <a:ln/>
        </p:spPr>
        <p:txBody>
          <a:bodyPr wrap="square" lIns="0" tIns="0" rIns="0" bIns="0" rtlCol="0" anchor="ctr"/>
          <a:lstStyle/>
          <a:p>
            <a:pPr indent="0" marL="0">
              <a:buNone/>
            </a:pPr>
            <a:r>
              <a:rPr lang="en-US" sz="1400" b="1" dirty="0">
                <a:solidFill>
                  <a:schemeClr val="accent1"/>
                </a:solidFill>
              </a:rPr>
              <a:t>1  </a:t>
            </a:r>
            <a:pPr indent="0" marL="0">
              <a:buNone/>
            </a:pPr>
            <a:r>
              <a:rPr lang="en-US" sz="1400" dirty="0">
                <a:solidFill>
                  <a:schemeClr val="tx1"/>
                </a:solidFill>
              </a:rPr>
              <a:t>Claim stream + history</a:t>
            </a:r>
            <a:endParaRPr lang="en-US" sz="1400" dirty="0"/>
          </a:p>
        </p:txBody>
      </p:sp>
      <p:sp>
        <p:nvSpPr>
          <p:cNvPr id="6" name="Arrow 1"/>
          <p:cNvSpPr/>
          <p:nvPr/>
        </p:nvSpPr>
        <p:spPr>
          <a:xfrm>
            <a:off x="2276856" y="1783080"/>
            <a:ext cx="246888" cy="0"/>
          </a:xfrm>
          <a:prstGeom prst="line">
            <a:avLst/>
          </a:prstGeom>
          <a:noFill/>
          <a:ln w="25400">
            <a:solidFill>
              <a:srgbClr val="6B7280"/>
            </a:solidFill>
            <a:prstDash val="solid"/>
            <a:tailEnd type="triangle"/>
          </a:ln>
        </p:spPr>
      </p:sp>
      <p:sp>
        <p:nvSpPr>
          <p:cNvPr id="7" name="Box 2"/>
          <p:cNvSpPr/>
          <p:nvPr/>
        </p:nvSpPr>
        <p:spPr>
          <a:xfrm>
            <a:off x="2560320" y="1280160"/>
            <a:ext cx="1783080" cy="1005840"/>
          </a:xfrm>
          <a:prstGeom prst="roundRect">
            <a:avLst>
              <a:gd name="adj" fmla="val 10909"/>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8" name="Box text 2"/>
          <p:cNvSpPr txBox="1"/>
          <p:nvPr/>
        </p:nvSpPr>
        <p:spPr>
          <a:xfrm>
            <a:off x="2670048" y="1280160"/>
            <a:ext cx="1563624" cy="1005840"/>
          </a:xfrm>
          <a:prstGeom prst="rect">
            <a:avLst/>
          </a:prstGeom>
          <a:noFill/>
          <a:ln/>
        </p:spPr>
        <p:txBody>
          <a:bodyPr wrap="square" lIns="0" tIns="0" rIns="0" bIns="0" rtlCol="0" anchor="ctr"/>
          <a:lstStyle/>
          <a:p>
            <a:pPr indent="0" marL="0">
              <a:buNone/>
            </a:pPr>
            <a:r>
              <a:rPr lang="en-US" sz="1400" b="1" dirty="0">
                <a:solidFill>
                  <a:schemeClr val="accent1"/>
                </a:solidFill>
              </a:rPr>
              <a:t>2  </a:t>
            </a:r>
            <a:pPr indent="0" marL="0">
              <a:buNone/>
            </a:pPr>
            <a:r>
              <a:rPr lang="en-US" sz="1400" dirty="0">
                <a:solidFill>
                  <a:schemeClr val="tx1"/>
                </a:solidFill>
              </a:rPr>
              <a:t>Temporal claim graph</a:t>
            </a:r>
            <a:endParaRPr lang="en-US" sz="1400" dirty="0"/>
          </a:p>
        </p:txBody>
      </p:sp>
      <p:sp>
        <p:nvSpPr>
          <p:cNvPr id="9" name="Arrow 2"/>
          <p:cNvSpPr/>
          <p:nvPr/>
        </p:nvSpPr>
        <p:spPr>
          <a:xfrm>
            <a:off x="4379976" y="1783080"/>
            <a:ext cx="246888" cy="0"/>
          </a:xfrm>
          <a:prstGeom prst="line">
            <a:avLst/>
          </a:prstGeom>
          <a:noFill/>
          <a:ln w="25400">
            <a:solidFill>
              <a:srgbClr val="6B7280"/>
            </a:solidFill>
            <a:prstDash val="solid"/>
            <a:tailEnd type="triangle"/>
          </a:ln>
        </p:spPr>
      </p:sp>
      <p:sp>
        <p:nvSpPr>
          <p:cNvPr id="10" name="Box 3"/>
          <p:cNvSpPr/>
          <p:nvPr/>
        </p:nvSpPr>
        <p:spPr>
          <a:xfrm>
            <a:off x="4663440" y="1280160"/>
            <a:ext cx="1783080" cy="1005840"/>
          </a:xfrm>
          <a:prstGeom prst="roundRect">
            <a:avLst>
              <a:gd name="adj" fmla="val 10909"/>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11" name="Box text 3"/>
          <p:cNvSpPr txBox="1"/>
          <p:nvPr/>
        </p:nvSpPr>
        <p:spPr>
          <a:xfrm>
            <a:off x="4773168" y="1280160"/>
            <a:ext cx="1563624" cy="1005840"/>
          </a:xfrm>
          <a:prstGeom prst="rect">
            <a:avLst/>
          </a:prstGeom>
          <a:noFill/>
          <a:ln/>
        </p:spPr>
        <p:txBody>
          <a:bodyPr wrap="square" lIns="0" tIns="0" rIns="0" bIns="0" rtlCol="0" anchor="ctr"/>
          <a:lstStyle/>
          <a:p>
            <a:pPr indent="0" marL="0">
              <a:buNone/>
            </a:pPr>
            <a:r>
              <a:rPr lang="en-US" sz="1400" b="1" dirty="0">
                <a:solidFill>
                  <a:schemeClr val="accent1"/>
                </a:solidFill>
              </a:rPr>
              <a:t>3  </a:t>
            </a:r>
            <a:pPr indent="0" marL="0">
              <a:buNone/>
            </a:pPr>
            <a:r>
              <a:rPr lang="en-US" sz="1400" dirty="0">
                <a:solidFill>
                  <a:schemeClr val="tx1"/>
                </a:solidFill>
              </a:rPr>
              <a:t>Deep encoder: LSTM, CNN, Transformer</a:t>
            </a:r>
            <a:endParaRPr lang="en-US" sz="1400" dirty="0"/>
          </a:p>
        </p:txBody>
      </p:sp>
      <p:sp>
        <p:nvSpPr>
          <p:cNvPr id="12" name="Arrow 3"/>
          <p:cNvSpPr/>
          <p:nvPr/>
        </p:nvSpPr>
        <p:spPr>
          <a:xfrm>
            <a:off x="6483096" y="1783080"/>
            <a:ext cx="246888" cy="0"/>
          </a:xfrm>
          <a:prstGeom prst="line">
            <a:avLst/>
          </a:prstGeom>
          <a:noFill/>
          <a:ln w="25400">
            <a:solidFill>
              <a:srgbClr val="6B7280"/>
            </a:solidFill>
            <a:prstDash val="solid"/>
            <a:tailEnd type="triangle"/>
          </a:ln>
        </p:spPr>
      </p:sp>
      <p:sp>
        <p:nvSpPr>
          <p:cNvPr id="13" name="Box 4"/>
          <p:cNvSpPr/>
          <p:nvPr/>
        </p:nvSpPr>
        <p:spPr>
          <a:xfrm>
            <a:off x="6766560" y="1280160"/>
            <a:ext cx="1783080" cy="1005840"/>
          </a:xfrm>
          <a:prstGeom prst="roundRect">
            <a:avLst>
              <a:gd name="adj" fmla="val 10909"/>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14" name="Box text 4"/>
          <p:cNvSpPr txBox="1"/>
          <p:nvPr/>
        </p:nvSpPr>
        <p:spPr>
          <a:xfrm>
            <a:off x="6876288" y="1280160"/>
            <a:ext cx="1563624" cy="1005840"/>
          </a:xfrm>
          <a:prstGeom prst="rect">
            <a:avLst/>
          </a:prstGeom>
          <a:noFill/>
          <a:ln/>
        </p:spPr>
        <p:txBody>
          <a:bodyPr wrap="square" lIns="0" tIns="0" rIns="0" bIns="0" rtlCol="0" anchor="ctr"/>
          <a:lstStyle/>
          <a:p>
            <a:pPr indent="0" marL="0">
              <a:buNone/>
            </a:pPr>
            <a:r>
              <a:rPr lang="en-US" sz="1400" b="1" dirty="0">
                <a:solidFill>
                  <a:schemeClr val="accent1"/>
                </a:solidFill>
              </a:rPr>
              <a:t>4  </a:t>
            </a:r>
            <a:pPr indent="0" marL="0">
              <a:buNone/>
            </a:pPr>
            <a:r>
              <a:rPr lang="en-US" sz="1400" dirty="0">
                <a:solidFill>
                  <a:schemeClr val="tx1"/>
                </a:solidFill>
              </a:rPr>
              <a:t>Classifier over known classes</a:t>
            </a:r>
            <a:endParaRPr lang="en-US" sz="1400" dirty="0"/>
          </a:p>
        </p:txBody>
      </p:sp>
      <p:sp>
        <p:nvSpPr>
          <p:cNvPr id="15" name="Box 5"/>
          <p:cNvSpPr/>
          <p:nvPr/>
        </p:nvSpPr>
        <p:spPr>
          <a:xfrm>
            <a:off x="6766560" y="2926080"/>
            <a:ext cx="1783080" cy="1005840"/>
          </a:xfrm>
          <a:prstGeom prst="roundRect">
            <a:avLst>
              <a:gd name="adj" fmla="val 10909"/>
            </a:avLst>
          </a:prstGeom>
          <a:solidFill>
            <a:srgbClr val="D9F0EC"/>
          </a:solidFill>
          <a:ln w="12700">
            <a:solidFill>
              <a:srgbClr val="D9F0EC"/>
            </a:solidFill>
            <a:prstDash val="solid"/>
          </a:ln>
          <a:effectLst>
            <a:outerShdw sx="100000" sy="100000" kx="0" ky="0" algn="bl" rotWithShape="0" blurRad="76200" dist="25400" dir="5400000">
              <a:srgbClr val="000000">
                <a:alpha val="12000"/>
              </a:srgbClr>
            </a:outerShdw>
          </a:effectLst>
        </p:spPr>
      </p:sp>
      <p:sp>
        <p:nvSpPr>
          <p:cNvPr id="16" name="Box text 5"/>
          <p:cNvSpPr txBox="1"/>
          <p:nvPr/>
        </p:nvSpPr>
        <p:spPr>
          <a:xfrm>
            <a:off x="6876288" y="2926080"/>
            <a:ext cx="1563624" cy="1005840"/>
          </a:xfrm>
          <a:prstGeom prst="rect">
            <a:avLst/>
          </a:prstGeom>
          <a:noFill/>
          <a:ln/>
        </p:spPr>
        <p:txBody>
          <a:bodyPr wrap="square" lIns="0" tIns="0" rIns="0" bIns="0" rtlCol="0" anchor="ctr"/>
          <a:lstStyle/>
          <a:p>
            <a:pPr indent="0" marL="0">
              <a:buNone/>
            </a:pPr>
            <a:r>
              <a:rPr lang="en-US" sz="1400" b="1" dirty="0">
                <a:solidFill>
                  <a:schemeClr val="accent2"/>
                </a:solidFill>
              </a:rPr>
              <a:t>5  </a:t>
            </a:r>
            <a:pPr indent="0" marL="0">
              <a:buNone/>
            </a:pPr>
            <a:r>
              <a:rPr lang="en-US" sz="1400" dirty="0">
                <a:solidFill>
                  <a:schemeClr val="tx1"/>
                </a:solidFill>
              </a:rPr>
              <a:t>Novelty score: energy + Mahalanobis</a:t>
            </a:r>
            <a:endParaRPr lang="en-US" sz="1400" dirty="0"/>
          </a:p>
        </p:txBody>
      </p:sp>
      <p:sp>
        <p:nvSpPr>
          <p:cNvPr id="17" name="Arrow 5"/>
          <p:cNvSpPr/>
          <p:nvPr/>
        </p:nvSpPr>
        <p:spPr>
          <a:xfrm flipH="1">
            <a:off x="6483096" y="3429000"/>
            <a:ext cx="246888" cy="0"/>
          </a:xfrm>
          <a:prstGeom prst="line">
            <a:avLst/>
          </a:prstGeom>
          <a:noFill/>
          <a:ln w="25400">
            <a:solidFill>
              <a:srgbClr val="6B7280"/>
            </a:solidFill>
            <a:prstDash val="solid"/>
            <a:tailEnd type="triangle"/>
          </a:ln>
        </p:spPr>
      </p:sp>
      <p:sp>
        <p:nvSpPr>
          <p:cNvPr id="18" name="Box 6"/>
          <p:cNvSpPr/>
          <p:nvPr/>
        </p:nvSpPr>
        <p:spPr>
          <a:xfrm>
            <a:off x="4663440" y="2926080"/>
            <a:ext cx="1783080" cy="1005840"/>
          </a:xfrm>
          <a:prstGeom prst="roundRect">
            <a:avLst>
              <a:gd name="adj" fmla="val 10909"/>
            </a:avLst>
          </a:prstGeom>
          <a:solidFill>
            <a:srgbClr val="D9F0EC"/>
          </a:solidFill>
          <a:ln w="12700">
            <a:solidFill>
              <a:srgbClr val="D9F0EC"/>
            </a:solidFill>
            <a:prstDash val="solid"/>
          </a:ln>
          <a:effectLst>
            <a:outerShdw sx="100000" sy="100000" kx="0" ky="0" algn="bl" rotWithShape="0" blurRad="76200" dist="25400" dir="5400000">
              <a:srgbClr val="000000">
                <a:alpha val="12000"/>
              </a:srgbClr>
            </a:outerShdw>
          </a:effectLst>
        </p:spPr>
      </p:sp>
      <p:sp>
        <p:nvSpPr>
          <p:cNvPr id="19" name="Box text 6"/>
          <p:cNvSpPr txBox="1"/>
          <p:nvPr/>
        </p:nvSpPr>
        <p:spPr>
          <a:xfrm>
            <a:off x="4773168" y="2926080"/>
            <a:ext cx="1563624" cy="1005840"/>
          </a:xfrm>
          <a:prstGeom prst="rect">
            <a:avLst/>
          </a:prstGeom>
          <a:noFill/>
          <a:ln/>
        </p:spPr>
        <p:txBody>
          <a:bodyPr wrap="square" lIns="0" tIns="0" rIns="0" bIns="0" rtlCol="0" anchor="ctr"/>
          <a:lstStyle/>
          <a:p>
            <a:pPr indent="0" marL="0">
              <a:buNone/>
            </a:pPr>
            <a:r>
              <a:rPr lang="en-US" sz="1400" b="1" dirty="0">
                <a:solidFill>
                  <a:schemeClr val="accent2"/>
                </a:solidFill>
              </a:rPr>
              <a:t>6  </a:t>
            </a:r>
            <a:pPr indent="0" marL="0">
              <a:buNone/>
            </a:pPr>
            <a:r>
              <a:rPr lang="en-US" sz="1400" dirty="0">
                <a:solidFill>
                  <a:schemeClr val="tx1"/>
                </a:solidFill>
              </a:rPr>
              <a:t>Conformal gate (p ≤ α)</a:t>
            </a:r>
            <a:endParaRPr lang="en-US" sz="1400" dirty="0"/>
          </a:p>
        </p:txBody>
      </p:sp>
      <p:sp>
        <p:nvSpPr>
          <p:cNvPr id="20" name="Arrow 6"/>
          <p:cNvSpPr/>
          <p:nvPr/>
        </p:nvSpPr>
        <p:spPr>
          <a:xfrm flipH="1">
            <a:off x="4379976" y="3429000"/>
            <a:ext cx="246888" cy="0"/>
          </a:xfrm>
          <a:prstGeom prst="line">
            <a:avLst/>
          </a:prstGeom>
          <a:noFill/>
          <a:ln w="25400">
            <a:solidFill>
              <a:srgbClr val="6B7280"/>
            </a:solidFill>
            <a:prstDash val="solid"/>
            <a:tailEnd type="triangle"/>
          </a:ln>
        </p:spPr>
      </p:sp>
      <p:sp>
        <p:nvSpPr>
          <p:cNvPr id="21" name="Box 7"/>
          <p:cNvSpPr/>
          <p:nvPr/>
        </p:nvSpPr>
        <p:spPr>
          <a:xfrm>
            <a:off x="2560320" y="2926080"/>
            <a:ext cx="1783080" cy="1005840"/>
          </a:xfrm>
          <a:prstGeom prst="roundRect">
            <a:avLst>
              <a:gd name="adj" fmla="val 10909"/>
            </a:avLst>
          </a:prstGeom>
          <a:solidFill>
            <a:srgbClr val="D9F0EC"/>
          </a:solidFill>
          <a:ln w="12700">
            <a:solidFill>
              <a:srgbClr val="D9F0EC"/>
            </a:solidFill>
            <a:prstDash val="solid"/>
          </a:ln>
          <a:effectLst>
            <a:outerShdw sx="100000" sy="100000" kx="0" ky="0" algn="bl" rotWithShape="0" blurRad="76200" dist="25400" dir="5400000">
              <a:srgbClr val="000000">
                <a:alpha val="12000"/>
              </a:srgbClr>
            </a:outerShdw>
          </a:effectLst>
        </p:spPr>
      </p:sp>
      <p:sp>
        <p:nvSpPr>
          <p:cNvPr id="22" name="Box text 7"/>
          <p:cNvSpPr txBox="1"/>
          <p:nvPr/>
        </p:nvSpPr>
        <p:spPr>
          <a:xfrm>
            <a:off x="2670048" y="2926080"/>
            <a:ext cx="1563624" cy="1005840"/>
          </a:xfrm>
          <a:prstGeom prst="rect">
            <a:avLst/>
          </a:prstGeom>
          <a:noFill/>
          <a:ln/>
        </p:spPr>
        <p:txBody>
          <a:bodyPr wrap="square" lIns="0" tIns="0" rIns="0" bIns="0" rtlCol="0" anchor="ctr"/>
          <a:lstStyle/>
          <a:p>
            <a:pPr indent="0" marL="0">
              <a:buNone/>
            </a:pPr>
            <a:r>
              <a:rPr lang="en-US" sz="1400" b="1" dirty="0">
                <a:solidFill>
                  <a:schemeClr val="accent2"/>
                </a:solidFill>
              </a:rPr>
              <a:t>7  </a:t>
            </a:r>
            <a:pPr indent="0" marL="0">
              <a:buNone/>
            </a:pPr>
            <a:r>
              <a:rPr lang="en-US" sz="1400" dirty="0">
                <a:solidFill>
                  <a:schemeClr val="tx1"/>
                </a:solidFill>
              </a:rPr>
              <a:t>Explained-Rarity Filter</a:t>
            </a:r>
            <a:endParaRPr lang="en-US" sz="1400" dirty="0"/>
          </a:p>
        </p:txBody>
      </p:sp>
      <p:sp>
        <p:nvSpPr>
          <p:cNvPr id="23" name="Arrow 7"/>
          <p:cNvSpPr/>
          <p:nvPr/>
        </p:nvSpPr>
        <p:spPr>
          <a:xfrm flipH="1">
            <a:off x="2276856" y="3429000"/>
            <a:ext cx="246888" cy="0"/>
          </a:xfrm>
          <a:prstGeom prst="line">
            <a:avLst/>
          </a:prstGeom>
          <a:noFill/>
          <a:ln w="25400">
            <a:solidFill>
              <a:srgbClr val="6B7280"/>
            </a:solidFill>
            <a:prstDash val="solid"/>
            <a:tailEnd type="triangle"/>
          </a:ln>
        </p:spPr>
      </p:sp>
      <p:sp>
        <p:nvSpPr>
          <p:cNvPr id="24" name="Box 8"/>
          <p:cNvSpPr/>
          <p:nvPr/>
        </p:nvSpPr>
        <p:spPr>
          <a:xfrm>
            <a:off x="457200" y="2926080"/>
            <a:ext cx="1783080" cy="1005840"/>
          </a:xfrm>
          <a:prstGeom prst="roundRect">
            <a:avLst>
              <a:gd name="adj" fmla="val 10909"/>
            </a:avLst>
          </a:prstGeom>
          <a:solidFill>
            <a:srgbClr val="D9F0EC"/>
          </a:solidFill>
          <a:ln w="12700">
            <a:solidFill>
              <a:srgbClr val="D9F0EC"/>
            </a:solidFill>
            <a:prstDash val="solid"/>
          </a:ln>
          <a:effectLst>
            <a:outerShdw sx="100000" sy="100000" kx="0" ky="0" algn="bl" rotWithShape="0" blurRad="76200" dist="25400" dir="5400000">
              <a:srgbClr val="000000">
                <a:alpha val="12000"/>
              </a:srgbClr>
            </a:outerShdw>
          </a:effectLst>
        </p:spPr>
      </p:sp>
      <p:sp>
        <p:nvSpPr>
          <p:cNvPr id="25" name="Box text 8"/>
          <p:cNvSpPr txBox="1"/>
          <p:nvPr/>
        </p:nvSpPr>
        <p:spPr>
          <a:xfrm>
            <a:off x="566928" y="2926080"/>
            <a:ext cx="1563624" cy="1005840"/>
          </a:xfrm>
          <a:prstGeom prst="rect">
            <a:avLst/>
          </a:prstGeom>
          <a:noFill/>
          <a:ln/>
        </p:spPr>
        <p:txBody>
          <a:bodyPr wrap="square" lIns="0" tIns="0" rIns="0" bIns="0" rtlCol="0" anchor="ctr"/>
          <a:lstStyle/>
          <a:p>
            <a:pPr indent="0" marL="0">
              <a:buNone/>
            </a:pPr>
            <a:r>
              <a:rPr lang="en-US" sz="1400" b="1" dirty="0">
                <a:solidFill>
                  <a:schemeClr val="accent2"/>
                </a:solidFill>
              </a:rPr>
              <a:t>8  </a:t>
            </a:r>
            <a:pPr indent="0" marL="0">
              <a:buNone/>
            </a:pPr>
            <a:r>
              <a:rPr lang="en-US" sz="1400" dirty="0">
                <a:solidFill>
                  <a:schemeClr val="tx1"/>
                </a:solidFill>
              </a:rPr>
              <a:t>Audit queue + cluster cards</a:t>
            </a:r>
            <a:endParaRPr lang="en-US" sz="1400" dirty="0"/>
          </a:p>
        </p:txBody>
      </p:sp>
      <p:sp>
        <p:nvSpPr>
          <p:cNvPr id="26" name="Arrow down"/>
          <p:cNvSpPr/>
          <p:nvPr/>
        </p:nvSpPr>
        <p:spPr>
          <a:xfrm>
            <a:off x="7658100" y="2322576"/>
            <a:ext cx="0" cy="566928"/>
          </a:xfrm>
          <a:prstGeom prst="line">
            <a:avLst/>
          </a:prstGeom>
          <a:noFill/>
          <a:ln w="25400">
            <a:solidFill>
              <a:srgbClr val="6B7280"/>
            </a:solidFill>
            <a:prstDash val="solid"/>
            <a:tailEnd type="triangle"/>
          </a:ln>
        </p:spPr>
      </p:sp>
      <p:sp>
        <p:nvSpPr>
          <p:cNvPr id="27" name="Architecture caption"/>
          <p:cNvSpPr txBox="1"/>
          <p:nvPr/>
        </p:nvSpPr>
        <p:spPr>
          <a:xfrm>
            <a:off x="457200" y="4297680"/>
            <a:ext cx="8138160" cy="365760"/>
          </a:xfrm>
          <a:prstGeom prst="rect">
            <a:avLst/>
          </a:prstGeom>
          <a:noFill/>
          <a:ln/>
        </p:spPr>
        <p:txBody>
          <a:bodyPr wrap="square" lIns="0" tIns="0" rIns="0" bIns="0" rtlCol="0" anchor="t"/>
          <a:lstStyle/>
          <a:p>
            <a:pPr indent="0" marL="0">
              <a:buNone/>
            </a:pPr>
            <a:r>
              <a:rPr lang="en-US" sz="1200" dirty="0">
                <a:solidFill>
                  <a:schemeClr val="accent4"/>
                </a:solidFill>
              </a:rPr>
              <a:t>Boxes 1 to 4 learn representations (deep learning). Boxes 5 to 8 make the decision (statistics and clustering).</a:t>
            </a:r>
            <a:endParaRPr lang="en-US" sz="12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Three deep branches</a:t>
            </a:r>
            <a:endParaRPr lang="en-US" sz="3400" dirty="0"/>
          </a:p>
        </p:txBody>
      </p:sp>
      <p:sp>
        <p:nvSpPr>
          <p:cNvPr id="4" name="Branch card 1"/>
          <p:cNvSpPr/>
          <p:nvPr/>
        </p:nvSpPr>
        <p:spPr>
          <a:xfrm>
            <a:off x="457200" y="1280160"/>
            <a:ext cx="2560320" cy="2834640"/>
          </a:xfrm>
          <a:prstGeom prst="roundRect">
            <a:avLst>
              <a:gd name="adj" fmla="val 4286"/>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5" name="Branch icon 1 circle"/>
          <p:cNvSpPr/>
          <p:nvPr/>
        </p:nvSpPr>
        <p:spPr>
          <a:xfrm>
            <a:off x="685800" y="1463040"/>
            <a:ext cx="640080" cy="640080"/>
          </a:xfrm>
          <a:prstGeom prst="ellipse">
            <a:avLst/>
          </a:prstGeom>
          <a:solidFill>
            <a:srgbClr val="F26B1D"/>
          </a:solidFill>
          <a:ln w="12700">
            <a:solidFill>
              <a:srgbClr val="F26B1D"/>
            </a:solidFill>
            <a:prstDash val="solid"/>
          </a:ln>
        </p:spPr>
      </p:sp>
      <p:pic>
        <p:nvPicPr>
          <p:cNvPr id="6" name="Branch icon 1" descr="preencoded.png">    </p:cNvPr>
          <p:cNvPicPr>
            <a:picLocks noChangeAspect="1"/>
          </p:cNvPicPr>
          <p:nvPr/>
        </p:nvPicPr>
        <p:blipFill>
          <a:blip r:embed="rId1"/>
          <a:stretch>
            <a:fillRect/>
          </a:stretch>
        </p:blipFill>
        <p:spPr>
          <a:xfrm>
            <a:off x="845820" y="1623060"/>
            <a:ext cx="320040" cy="320040"/>
          </a:xfrm>
          <a:prstGeom prst="rect">
            <a:avLst/>
          </a:prstGeom>
        </p:spPr>
      </p:pic>
      <p:sp>
        <p:nvSpPr>
          <p:cNvPr id="7" name="Branch name 1"/>
          <p:cNvSpPr txBox="1"/>
          <p:nvPr/>
        </p:nvSpPr>
        <p:spPr>
          <a:xfrm>
            <a:off x="1463040" y="1463040"/>
            <a:ext cx="1463040" cy="640080"/>
          </a:xfrm>
          <a:prstGeom prst="rect">
            <a:avLst/>
          </a:prstGeom>
          <a:noFill/>
          <a:ln/>
        </p:spPr>
        <p:txBody>
          <a:bodyPr wrap="square" lIns="0" tIns="0" rIns="0" bIns="0" rtlCol="0" anchor="ctr"/>
          <a:lstStyle/>
          <a:p>
            <a:pPr indent="0" marL="0">
              <a:buNone/>
            </a:pPr>
            <a:r>
              <a:rPr lang="en-US" sz="2200" b="1" dirty="0">
                <a:solidFill>
                  <a:schemeClr val="tx1"/>
                </a:solidFill>
              </a:rPr>
              <a:t>LSTM</a:t>
            </a:r>
            <a:endParaRPr lang="en-US" sz="2200" dirty="0"/>
          </a:p>
        </p:txBody>
      </p:sp>
      <p:sp>
        <p:nvSpPr>
          <p:cNvPr id="8" name="Branch input 1"/>
          <p:cNvSpPr txBox="1"/>
          <p:nvPr/>
        </p:nvSpPr>
        <p:spPr>
          <a:xfrm>
            <a:off x="685800" y="2331720"/>
            <a:ext cx="2103120" cy="868680"/>
          </a:xfrm>
          <a:prstGeom prst="rect">
            <a:avLst/>
          </a:prstGeom>
          <a:noFill/>
          <a:ln/>
        </p:spPr>
        <p:txBody>
          <a:bodyPr wrap="square" lIns="0" tIns="0" rIns="0" bIns="0" rtlCol="0" anchor="t"/>
          <a:lstStyle/>
          <a:p>
            <a:pPr indent="0" marL="0">
              <a:buNone/>
            </a:pPr>
            <a:r>
              <a:rPr lang="en-US" sz="1400" dirty="0">
                <a:solidFill>
                  <a:schemeClr val="tx1"/>
                </a:solidFill>
              </a:rPr>
              <a:t>Input: the provider's recent claims (amount, stay, gaps).</a:t>
            </a:r>
            <a:endParaRPr lang="en-US" sz="1400" dirty="0"/>
          </a:p>
        </p:txBody>
      </p:sp>
      <p:sp>
        <p:nvSpPr>
          <p:cNvPr id="9" name="Branch why 1"/>
          <p:cNvSpPr txBox="1"/>
          <p:nvPr/>
        </p:nvSpPr>
        <p:spPr>
          <a:xfrm>
            <a:off x="685800" y="3246120"/>
            <a:ext cx="2103120" cy="777240"/>
          </a:xfrm>
          <a:prstGeom prst="rect">
            <a:avLst/>
          </a:prstGeom>
          <a:noFill/>
          <a:ln/>
        </p:spPr>
        <p:txBody>
          <a:bodyPr wrap="square" lIns="0" tIns="0" rIns="0" bIns="0" rtlCol="0" anchor="t"/>
          <a:lstStyle/>
          <a:p>
            <a:pPr indent="0" marL="0">
              <a:buNone/>
            </a:pPr>
            <a:r>
              <a:rPr lang="en-US" sz="1400" b="1" dirty="0">
                <a:solidFill>
                  <a:schemeClr val="tx2"/>
                </a:solidFill>
              </a:rPr>
              <a:t>Why: captures bursts and drift over time.</a:t>
            </a:r>
            <a:endParaRPr lang="en-US" sz="1400" dirty="0"/>
          </a:p>
        </p:txBody>
      </p:sp>
      <p:sp>
        <p:nvSpPr>
          <p:cNvPr id="10" name="Branch card 2"/>
          <p:cNvSpPr/>
          <p:nvPr/>
        </p:nvSpPr>
        <p:spPr>
          <a:xfrm>
            <a:off x="3291840" y="1280160"/>
            <a:ext cx="2560320" cy="2834640"/>
          </a:xfrm>
          <a:prstGeom prst="roundRect">
            <a:avLst>
              <a:gd name="adj" fmla="val 4286"/>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11" name="Branch icon 2 circle"/>
          <p:cNvSpPr/>
          <p:nvPr/>
        </p:nvSpPr>
        <p:spPr>
          <a:xfrm>
            <a:off x="3520440" y="1463040"/>
            <a:ext cx="640080" cy="640080"/>
          </a:xfrm>
          <a:prstGeom prst="ellipse">
            <a:avLst/>
          </a:prstGeom>
          <a:solidFill>
            <a:srgbClr val="F26B1D"/>
          </a:solidFill>
          <a:ln w="12700">
            <a:solidFill>
              <a:srgbClr val="F26B1D"/>
            </a:solidFill>
            <a:prstDash val="solid"/>
          </a:ln>
        </p:spPr>
      </p:sp>
      <p:pic>
        <p:nvPicPr>
          <p:cNvPr id="12" name="Branch icon 2" descr="preencoded.png">    </p:cNvPr>
          <p:cNvPicPr>
            <a:picLocks noChangeAspect="1"/>
          </p:cNvPicPr>
          <p:nvPr/>
        </p:nvPicPr>
        <p:blipFill>
          <a:blip r:embed="rId2"/>
          <a:stretch>
            <a:fillRect/>
          </a:stretch>
        </p:blipFill>
        <p:spPr>
          <a:xfrm>
            <a:off x="3680460" y="1623060"/>
            <a:ext cx="320040" cy="320040"/>
          </a:xfrm>
          <a:prstGeom prst="rect">
            <a:avLst/>
          </a:prstGeom>
        </p:spPr>
      </p:pic>
      <p:sp>
        <p:nvSpPr>
          <p:cNvPr id="13" name="Branch name 2"/>
          <p:cNvSpPr txBox="1"/>
          <p:nvPr/>
        </p:nvSpPr>
        <p:spPr>
          <a:xfrm>
            <a:off x="4297680" y="1463040"/>
            <a:ext cx="1463040" cy="640080"/>
          </a:xfrm>
          <a:prstGeom prst="rect">
            <a:avLst/>
          </a:prstGeom>
          <a:noFill/>
          <a:ln/>
        </p:spPr>
        <p:txBody>
          <a:bodyPr wrap="square" lIns="0" tIns="0" rIns="0" bIns="0" rtlCol="0" anchor="ctr"/>
          <a:lstStyle/>
          <a:p>
            <a:pPr indent="0" marL="0">
              <a:buNone/>
            </a:pPr>
            <a:r>
              <a:rPr lang="en-US" sz="2200" b="1" dirty="0">
                <a:solidFill>
                  <a:schemeClr val="tx1"/>
                </a:solidFill>
              </a:rPr>
              <a:t>1D-CNN</a:t>
            </a:r>
            <a:endParaRPr lang="en-US" sz="2200" dirty="0"/>
          </a:p>
        </p:txBody>
      </p:sp>
      <p:sp>
        <p:nvSpPr>
          <p:cNvPr id="14" name="Branch input 2"/>
          <p:cNvSpPr txBox="1"/>
          <p:nvPr/>
        </p:nvSpPr>
        <p:spPr>
          <a:xfrm>
            <a:off x="3520440" y="2331720"/>
            <a:ext cx="2103120" cy="868680"/>
          </a:xfrm>
          <a:prstGeom prst="rect">
            <a:avLst/>
          </a:prstGeom>
          <a:noFill/>
          <a:ln/>
        </p:spPr>
        <p:txBody>
          <a:bodyPr wrap="square" lIns="0" tIns="0" rIns="0" bIns="0" rtlCol="0" anchor="t"/>
          <a:lstStyle/>
          <a:p>
            <a:pPr indent="0" marL="0">
              <a:buNone/>
            </a:pPr>
            <a:r>
              <a:rPr lang="en-US" sz="1400" dirty="0">
                <a:solidFill>
                  <a:schemeClr val="tx1"/>
                </a:solidFill>
              </a:rPr>
              <a:t>Input: ordered procedure and line-item codes of one claim.</a:t>
            </a:r>
            <a:endParaRPr lang="en-US" sz="1400" dirty="0"/>
          </a:p>
        </p:txBody>
      </p:sp>
      <p:sp>
        <p:nvSpPr>
          <p:cNvPr id="15" name="Branch why 2"/>
          <p:cNvSpPr txBox="1"/>
          <p:nvPr/>
        </p:nvSpPr>
        <p:spPr>
          <a:xfrm>
            <a:off x="3520440" y="3246120"/>
            <a:ext cx="2103120" cy="777240"/>
          </a:xfrm>
          <a:prstGeom prst="rect">
            <a:avLst/>
          </a:prstGeom>
          <a:noFill/>
          <a:ln/>
        </p:spPr>
        <p:txBody>
          <a:bodyPr wrap="square" lIns="0" tIns="0" rIns="0" bIns="0" rtlCol="0" anchor="t"/>
          <a:lstStyle/>
          <a:p>
            <a:pPr indent="0" marL="0">
              <a:buNone/>
            </a:pPr>
            <a:r>
              <a:rPr lang="en-US" sz="1400" b="1" dirty="0">
                <a:solidFill>
                  <a:schemeClr val="tx2"/>
                </a:solidFill>
              </a:rPr>
              <a:t>Why: finds local code patterns, e.g. unbundling.</a:t>
            </a:r>
            <a:endParaRPr lang="en-US" sz="1400" dirty="0"/>
          </a:p>
        </p:txBody>
      </p:sp>
      <p:sp>
        <p:nvSpPr>
          <p:cNvPr id="16" name="Branch card 3"/>
          <p:cNvSpPr/>
          <p:nvPr/>
        </p:nvSpPr>
        <p:spPr>
          <a:xfrm>
            <a:off x="6126480" y="1280160"/>
            <a:ext cx="2560320" cy="2834640"/>
          </a:xfrm>
          <a:prstGeom prst="roundRect">
            <a:avLst>
              <a:gd name="adj" fmla="val 4286"/>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17" name="Branch icon 3 circle"/>
          <p:cNvSpPr/>
          <p:nvPr/>
        </p:nvSpPr>
        <p:spPr>
          <a:xfrm>
            <a:off x="6355080" y="1463040"/>
            <a:ext cx="640080" cy="640080"/>
          </a:xfrm>
          <a:prstGeom prst="ellipse">
            <a:avLst/>
          </a:prstGeom>
          <a:solidFill>
            <a:srgbClr val="F26B1D"/>
          </a:solidFill>
          <a:ln w="12700">
            <a:solidFill>
              <a:srgbClr val="F26B1D"/>
            </a:solidFill>
            <a:prstDash val="solid"/>
          </a:ln>
        </p:spPr>
      </p:sp>
      <p:pic>
        <p:nvPicPr>
          <p:cNvPr id="18" name="Branch icon 3" descr="preencoded.png">    </p:cNvPr>
          <p:cNvPicPr>
            <a:picLocks noChangeAspect="1"/>
          </p:cNvPicPr>
          <p:nvPr/>
        </p:nvPicPr>
        <p:blipFill>
          <a:blip r:embed="rId3"/>
          <a:stretch>
            <a:fillRect/>
          </a:stretch>
        </p:blipFill>
        <p:spPr>
          <a:xfrm>
            <a:off x="6515100" y="1623060"/>
            <a:ext cx="320040" cy="320040"/>
          </a:xfrm>
          <a:prstGeom prst="rect">
            <a:avLst/>
          </a:prstGeom>
        </p:spPr>
      </p:pic>
      <p:sp>
        <p:nvSpPr>
          <p:cNvPr id="19" name="Branch name 3"/>
          <p:cNvSpPr txBox="1"/>
          <p:nvPr/>
        </p:nvSpPr>
        <p:spPr>
          <a:xfrm>
            <a:off x="7132320" y="1463040"/>
            <a:ext cx="1463040" cy="640080"/>
          </a:xfrm>
          <a:prstGeom prst="rect">
            <a:avLst/>
          </a:prstGeom>
          <a:noFill/>
          <a:ln/>
        </p:spPr>
        <p:txBody>
          <a:bodyPr wrap="square" lIns="0" tIns="0" rIns="0" bIns="0" rtlCol="0" anchor="ctr"/>
          <a:lstStyle/>
          <a:p>
            <a:pPr indent="0" marL="0">
              <a:buNone/>
            </a:pPr>
            <a:r>
              <a:rPr lang="en-US" sz="2200" b="1" dirty="0">
                <a:solidFill>
                  <a:schemeClr val="tx1"/>
                </a:solidFill>
              </a:rPr>
              <a:t>Transformer</a:t>
            </a:r>
            <a:endParaRPr lang="en-US" sz="2200" dirty="0"/>
          </a:p>
        </p:txBody>
      </p:sp>
      <p:sp>
        <p:nvSpPr>
          <p:cNvPr id="20" name="Branch input 3"/>
          <p:cNvSpPr txBox="1"/>
          <p:nvPr/>
        </p:nvSpPr>
        <p:spPr>
          <a:xfrm>
            <a:off x="6355080" y="2331720"/>
            <a:ext cx="2103120" cy="868680"/>
          </a:xfrm>
          <a:prstGeom prst="rect">
            <a:avLst/>
          </a:prstGeom>
          <a:noFill/>
          <a:ln/>
        </p:spPr>
        <p:txBody>
          <a:bodyPr wrap="square" lIns="0" tIns="0" rIns="0" bIns="0" rtlCol="0" anchor="t"/>
          <a:lstStyle/>
          <a:p>
            <a:pPr indent="0" marL="0">
              <a:buNone/>
            </a:pPr>
            <a:r>
              <a:rPr lang="en-US" sz="1400" dirty="0">
                <a:solidFill>
                  <a:schemeClr val="tx1"/>
                </a:solidFill>
              </a:rPr>
              <a:t>Input: tokens for claim, hospital, doctor, package, diagnosis, neighbours.</a:t>
            </a:r>
            <a:endParaRPr lang="en-US" sz="1400" dirty="0"/>
          </a:p>
        </p:txBody>
      </p:sp>
      <p:sp>
        <p:nvSpPr>
          <p:cNvPr id="21" name="Branch why 3"/>
          <p:cNvSpPr txBox="1"/>
          <p:nvPr/>
        </p:nvSpPr>
        <p:spPr>
          <a:xfrm>
            <a:off x="6355080" y="3246120"/>
            <a:ext cx="2103120" cy="777240"/>
          </a:xfrm>
          <a:prstGeom prst="rect">
            <a:avLst/>
          </a:prstGeom>
          <a:noFill/>
          <a:ln/>
        </p:spPr>
        <p:txBody>
          <a:bodyPr wrap="square" lIns="0" tIns="0" rIns="0" bIns="0" rtlCol="0" anchor="t"/>
          <a:lstStyle/>
          <a:p>
            <a:pPr indent="0" marL="0">
              <a:buNone/>
            </a:pPr>
            <a:r>
              <a:rPr lang="en-US" sz="1400" b="1" dirty="0">
                <a:solidFill>
                  <a:schemeClr val="tx2"/>
                </a:solidFill>
              </a:rPr>
              <a:t>Why: attention weighs the relational cues.</a:t>
            </a:r>
            <a:endParaRPr lang="en-US" sz="1400" dirty="0"/>
          </a:p>
        </p:txBody>
      </p:sp>
      <p:sp>
        <p:nvSpPr>
          <p:cNvPr id="22" name="Branch caption"/>
          <p:cNvSpPr txBox="1"/>
          <p:nvPr/>
        </p:nvSpPr>
        <p:spPr>
          <a:xfrm>
            <a:off x="457200" y="4343400"/>
            <a:ext cx="8138160" cy="365760"/>
          </a:xfrm>
          <a:prstGeom prst="rect">
            <a:avLst/>
          </a:prstGeom>
          <a:noFill/>
          <a:ln/>
        </p:spPr>
        <p:txBody>
          <a:bodyPr wrap="square" lIns="0" tIns="0" rIns="0" bIns="0" rtlCol="0" anchor="t"/>
          <a:lstStyle/>
          <a:p>
            <a:pPr indent="0" marL="0">
              <a:buNone/>
            </a:pPr>
            <a:r>
              <a:rPr lang="en-US" sz="1200" dirty="0">
                <a:solidFill>
                  <a:schemeClr val="accent4"/>
                </a:solidFill>
              </a:rPr>
              <a:t>Concatenated into one embedding. Each branch must earn its place in an ablation.</a:t>
            </a:r>
            <a:endParaRPr lang="en-US" sz="12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Fusion, heads and losses</a:t>
            </a:r>
            <a:endParaRPr lang="en-US" sz="3400" dirty="0"/>
          </a:p>
        </p:txBody>
      </p:sp>
      <p:sp>
        <p:nvSpPr>
          <p:cNvPr id="4" name="Fused embedding"/>
          <p:cNvSpPr/>
          <p:nvPr/>
        </p:nvSpPr>
        <p:spPr>
          <a:xfrm>
            <a:off x="457200" y="2011680"/>
            <a:ext cx="1737360" cy="1188720"/>
          </a:xfrm>
          <a:prstGeom prst="roundRect">
            <a:avLst>
              <a:gd name="adj" fmla="val 9231"/>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5" name="Fused text"/>
          <p:cNvSpPr txBox="1"/>
          <p:nvPr/>
        </p:nvSpPr>
        <p:spPr>
          <a:xfrm>
            <a:off x="548640" y="2011680"/>
            <a:ext cx="1554480" cy="1188720"/>
          </a:xfrm>
          <a:prstGeom prst="rect">
            <a:avLst/>
          </a:prstGeom>
          <a:noFill/>
          <a:ln/>
        </p:spPr>
        <p:txBody>
          <a:bodyPr wrap="square" lIns="0" tIns="0" rIns="0" bIns="0" rtlCol="0" anchor="ctr"/>
          <a:lstStyle/>
          <a:p>
            <a:pPr algn="ctr" indent="0" marL="0">
              <a:buNone/>
            </a:pPr>
            <a:r>
              <a:rPr lang="en-US" sz="1600" b="1" dirty="0">
                <a:solidFill>
                  <a:schemeClr val="tx1"/>
                </a:solidFill>
              </a:rPr>
              <a:t>Embedding h</a:t>
            </a:r>
            <a:endParaRPr lang="en-US" sz="1600" dirty="0"/>
          </a:p>
        </p:txBody>
      </p:sp>
      <p:sp>
        <p:nvSpPr>
          <p:cNvPr id="6" name="Arrow to classifier"/>
          <p:cNvSpPr/>
          <p:nvPr/>
        </p:nvSpPr>
        <p:spPr>
          <a:xfrm flipV="1">
            <a:off x="2240280" y="1783080"/>
            <a:ext cx="548640" cy="594360"/>
          </a:xfrm>
          <a:prstGeom prst="line">
            <a:avLst/>
          </a:prstGeom>
          <a:noFill/>
          <a:ln w="25400">
            <a:solidFill>
              <a:srgbClr val="6B7280"/>
            </a:solidFill>
            <a:prstDash val="solid"/>
            <a:tailEnd type="triangle"/>
          </a:ln>
        </p:spPr>
      </p:sp>
      <p:sp>
        <p:nvSpPr>
          <p:cNvPr id="7" name="Arrow to expectation"/>
          <p:cNvSpPr/>
          <p:nvPr/>
        </p:nvSpPr>
        <p:spPr>
          <a:xfrm>
            <a:off x="2240280" y="2834640"/>
            <a:ext cx="548640" cy="594360"/>
          </a:xfrm>
          <a:prstGeom prst="line">
            <a:avLst/>
          </a:prstGeom>
          <a:noFill/>
          <a:ln w="25400">
            <a:solidFill>
              <a:srgbClr val="6B7280"/>
            </a:solidFill>
            <a:prstDash val="solid"/>
            <a:tailEnd type="triangle"/>
          </a:ln>
        </p:spPr>
      </p:sp>
      <p:sp>
        <p:nvSpPr>
          <p:cNvPr id="8" name="Classifier head"/>
          <p:cNvSpPr/>
          <p:nvPr/>
        </p:nvSpPr>
        <p:spPr>
          <a:xfrm>
            <a:off x="2834640" y="1280160"/>
            <a:ext cx="5852160" cy="1463040"/>
          </a:xfrm>
          <a:prstGeom prst="roundRect">
            <a:avLst>
              <a:gd name="adj" fmla="val 7500"/>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9" name="Classifier head title"/>
          <p:cNvSpPr txBox="1"/>
          <p:nvPr/>
        </p:nvSpPr>
        <p:spPr>
          <a:xfrm>
            <a:off x="3017520" y="1371600"/>
            <a:ext cx="5486400" cy="320040"/>
          </a:xfrm>
          <a:prstGeom prst="rect">
            <a:avLst/>
          </a:prstGeom>
          <a:noFill/>
          <a:ln/>
        </p:spPr>
        <p:txBody>
          <a:bodyPr wrap="square" lIns="0" tIns="0" rIns="0" bIns="0" rtlCol="0" anchor="t"/>
          <a:lstStyle/>
          <a:p>
            <a:pPr indent="0" marL="0">
              <a:buNone/>
            </a:pPr>
            <a:r>
              <a:rPr lang="en-US" sz="1800" b="1" dirty="0">
                <a:solidFill>
                  <a:schemeClr val="tx2"/>
                </a:solidFill>
              </a:rPr>
              <a:t>Classifier head (known classes)</a:t>
            </a:r>
            <a:endParaRPr lang="en-US" sz="1800" dirty="0"/>
          </a:p>
        </p:txBody>
      </p:sp>
      <p:sp>
        <p:nvSpPr>
          <p:cNvPr id="10" name="Classifier head body"/>
          <p:cNvSpPr txBox="1"/>
          <p:nvPr/>
        </p:nvSpPr>
        <p:spPr>
          <a:xfrm>
            <a:off x="3017520" y="1783080"/>
            <a:ext cx="5486400" cy="868680"/>
          </a:xfrm>
          <a:prstGeom prst="rect">
            <a:avLst/>
          </a:prstGeom>
          <a:noFill/>
          <a:ln/>
        </p:spPr>
        <p:txBody>
          <a:bodyPr wrap="square" lIns="0" tIns="0" rIns="0" bIns="0" rtlCol="0" anchor="t"/>
          <a:lstStyle/>
          <a:p>
            <a:pPr indent="0" marL="0">
              <a:buNone/>
            </a:pPr>
            <a:r>
              <a:rPr lang="en-US" sz="1400" dirty="0">
                <a:solidFill>
                  <a:schemeClr val="tx1"/>
                </a:solidFill>
              </a:rPr>
              <a:t>Loss: cross-entropy + energy-margin on known vs pseudo-novel claims. Each episode masks one known fraud class as pseudo-novel.</a:t>
            </a:r>
            <a:endParaRPr lang="en-US" sz="1400" dirty="0"/>
          </a:p>
        </p:txBody>
      </p:sp>
      <p:sp>
        <p:nvSpPr>
          <p:cNvPr id="11" name="Expectation head"/>
          <p:cNvSpPr/>
          <p:nvPr/>
        </p:nvSpPr>
        <p:spPr>
          <a:xfrm>
            <a:off x="2834640" y="2926080"/>
            <a:ext cx="5852160" cy="1463040"/>
          </a:xfrm>
          <a:prstGeom prst="roundRect">
            <a:avLst>
              <a:gd name="adj" fmla="val 7500"/>
            </a:avLst>
          </a:prstGeom>
          <a:solidFill>
            <a:srgbClr val="D9F0EC"/>
          </a:solidFill>
          <a:ln w="12700">
            <a:solidFill>
              <a:srgbClr val="D9F0EC"/>
            </a:solidFill>
            <a:prstDash val="solid"/>
          </a:ln>
          <a:effectLst>
            <a:outerShdw sx="100000" sy="100000" kx="0" ky="0" algn="bl" rotWithShape="0" blurRad="76200" dist="25400" dir="5400000">
              <a:srgbClr val="000000">
                <a:alpha val="12000"/>
              </a:srgbClr>
            </a:outerShdw>
          </a:effectLst>
        </p:spPr>
      </p:sp>
      <p:sp>
        <p:nvSpPr>
          <p:cNvPr id="12" name="Expectation head title"/>
          <p:cNvSpPr txBox="1"/>
          <p:nvPr/>
        </p:nvSpPr>
        <p:spPr>
          <a:xfrm>
            <a:off x="3017520" y="3017520"/>
            <a:ext cx="5486400" cy="320040"/>
          </a:xfrm>
          <a:prstGeom prst="rect">
            <a:avLst/>
          </a:prstGeom>
          <a:noFill/>
          <a:ln/>
        </p:spPr>
        <p:txBody>
          <a:bodyPr wrap="square" lIns="0" tIns="0" rIns="0" bIns="0" rtlCol="0" anchor="t"/>
          <a:lstStyle/>
          <a:p>
            <a:pPr indent="0" marL="0">
              <a:buNone/>
            </a:pPr>
            <a:r>
              <a:rPr lang="en-US" sz="1800" b="1" dirty="0">
                <a:solidFill>
                  <a:schemeClr val="accent2"/>
                </a:solidFill>
              </a:rPr>
              <a:t>Expectation head (exogenous inputs only)</a:t>
            </a:r>
            <a:endParaRPr lang="en-US" sz="1800" dirty="0"/>
          </a:p>
        </p:txBody>
      </p:sp>
      <p:sp>
        <p:nvSpPr>
          <p:cNvPr id="13" name="Expectation head body"/>
          <p:cNvSpPr txBox="1"/>
          <p:nvPr/>
        </p:nvSpPr>
        <p:spPr>
          <a:xfrm>
            <a:off x="3017520" y="3429000"/>
            <a:ext cx="5486400" cy="868680"/>
          </a:xfrm>
          <a:prstGeom prst="rect">
            <a:avLst/>
          </a:prstGeom>
          <a:noFill/>
          <a:ln/>
        </p:spPr>
        <p:txBody>
          <a:bodyPr wrap="square" lIns="0" tIns="0" rIns="0" bIns="0" rtlCol="0" anchor="t"/>
          <a:lstStyle/>
          <a:p>
            <a:pPr indent="0" marL="0">
              <a:buNone/>
            </a:pPr>
            <a:r>
              <a:rPr lang="en-US" sz="1400" dirty="0">
                <a:solidFill>
                  <a:schemeClr val="tx1"/>
                </a:solidFill>
              </a:rPr>
              <a:t>Predicts mean and spread of log-amount and length of stay. Loss: Gaussian NLL, trained on benign claims only.</a:t>
            </a:r>
            <a:endParaRPr lang="en-US" sz="1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Novelty: energy + distance</a:t>
            </a:r>
            <a:endParaRPr lang="en-US" sz="3400" dirty="0"/>
          </a:p>
        </p:txBody>
      </p:sp>
      <p:sp>
        <p:nvSpPr>
          <p:cNvPr id="4" name="Score card 1"/>
          <p:cNvSpPr/>
          <p:nvPr/>
        </p:nvSpPr>
        <p:spPr>
          <a:xfrm>
            <a:off x="457200" y="1280160"/>
            <a:ext cx="3931920" cy="2148840"/>
          </a:xfrm>
          <a:prstGeom prst="roundRect">
            <a:avLst>
              <a:gd name="adj" fmla="val 5106"/>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5" name="Score head 1"/>
          <p:cNvSpPr txBox="1"/>
          <p:nvPr/>
        </p:nvSpPr>
        <p:spPr>
          <a:xfrm>
            <a:off x="685800" y="1417320"/>
            <a:ext cx="3474720" cy="365760"/>
          </a:xfrm>
          <a:prstGeom prst="rect">
            <a:avLst/>
          </a:prstGeom>
          <a:noFill/>
          <a:ln/>
        </p:spPr>
        <p:txBody>
          <a:bodyPr wrap="square" lIns="0" tIns="0" rIns="0" bIns="0" rtlCol="0" anchor="t"/>
          <a:lstStyle/>
          <a:p>
            <a:pPr indent="0" marL="0">
              <a:buNone/>
            </a:pPr>
            <a:r>
              <a:rPr lang="en-US" sz="2000" b="1" dirty="0">
                <a:solidFill>
                  <a:schemeClr val="tx2"/>
                </a:solidFill>
              </a:rPr>
              <a:t>Energy score</a:t>
            </a:r>
            <a:endParaRPr lang="en-US" sz="2000" dirty="0"/>
          </a:p>
        </p:txBody>
      </p:sp>
      <p:sp>
        <p:nvSpPr>
          <p:cNvPr id="6" name="Score formula 1"/>
          <p:cNvSpPr txBox="1"/>
          <p:nvPr/>
        </p:nvSpPr>
        <p:spPr>
          <a:xfrm>
            <a:off x="685800" y="1874520"/>
            <a:ext cx="3474720" cy="457200"/>
          </a:xfrm>
          <a:prstGeom prst="rect">
            <a:avLst/>
          </a:prstGeom>
          <a:noFill/>
          <a:ln/>
        </p:spPr>
        <p:txBody>
          <a:bodyPr wrap="square" lIns="0" tIns="0" rIns="0" bIns="0" rtlCol="0" anchor="t"/>
          <a:lstStyle/>
          <a:p>
            <a:pPr indent="0" marL="0">
              <a:buNone/>
            </a:pPr>
            <a:r>
              <a:rPr lang="en-US" sz="1600" b="1" dirty="0">
                <a:solidFill>
                  <a:schemeClr val="tx1"/>
                </a:solidFill>
              </a:rPr>
              <a:t>E(x) = −T · log Σ exp(z / T)</a:t>
            </a:r>
            <a:endParaRPr lang="en-US" sz="1600" dirty="0"/>
          </a:p>
        </p:txBody>
      </p:sp>
      <p:sp>
        <p:nvSpPr>
          <p:cNvPr id="7" name="Score body 1"/>
          <p:cNvSpPr txBox="1"/>
          <p:nvPr/>
        </p:nvSpPr>
        <p:spPr>
          <a:xfrm>
            <a:off x="685800" y="2423160"/>
            <a:ext cx="3474720" cy="868680"/>
          </a:xfrm>
          <a:prstGeom prst="rect">
            <a:avLst/>
          </a:prstGeom>
          <a:noFill/>
          <a:ln/>
        </p:spPr>
        <p:txBody>
          <a:bodyPr wrap="square" lIns="0" tIns="0" rIns="0" bIns="0" rtlCol="0" anchor="t"/>
          <a:lstStyle/>
          <a:p>
            <a:pPr indent="0" marL="0">
              <a:buNone/>
            </a:pPr>
            <a:r>
              <a:rPr lang="en-US" sz="1400" dirty="0">
                <a:solidFill>
                  <a:schemeClr val="tx1"/>
                </a:solidFill>
              </a:rPr>
              <a:t>Computed from classifier logits z. Low for familiar claims, high for unfamiliar ones.</a:t>
            </a:r>
            <a:endParaRPr lang="en-US" sz="1400" dirty="0"/>
          </a:p>
        </p:txBody>
      </p:sp>
      <p:sp>
        <p:nvSpPr>
          <p:cNvPr id="8" name="Score card 2"/>
          <p:cNvSpPr/>
          <p:nvPr/>
        </p:nvSpPr>
        <p:spPr>
          <a:xfrm>
            <a:off x="4663440" y="1280160"/>
            <a:ext cx="3931920" cy="2148840"/>
          </a:xfrm>
          <a:prstGeom prst="roundRect">
            <a:avLst>
              <a:gd name="adj" fmla="val 5106"/>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9" name="Score head 2"/>
          <p:cNvSpPr txBox="1"/>
          <p:nvPr/>
        </p:nvSpPr>
        <p:spPr>
          <a:xfrm>
            <a:off x="4892040" y="1417320"/>
            <a:ext cx="3474720" cy="365760"/>
          </a:xfrm>
          <a:prstGeom prst="rect">
            <a:avLst/>
          </a:prstGeom>
          <a:noFill/>
          <a:ln/>
        </p:spPr>
        <p:txBody>
          <a:bodyPr wrap="square" lIns="0" tIns="0" rIns="0" bIns="0" rtlCol="0" anchor="t"/>
          <a:lstStyle/>
          <a:p>
            <a:pPr indent="0" marL="0">
              <a:buNone/>
            </a:pPr>
            <a:r>
              <a:rPr lang="en-US" sz="2000" b="1" dirty="0">
                <a:solidFill>
                  <a:schemeClr val="tx2"/>
                </a:solidFill>
              </a:rPr>
              <a:t>Mahalanobis distance</a:t>
            </a:r>
            <a:endParaRPr lang="en-US" sz="2000" dirty="0"/>
          </a:p>
        </p:txBody>
      </p:sp>
      <p:sp>
        <p:nvSpPr>
          <p:cNvPr id="10" name="Score formula 2"/>
          <p:cNvSpPr txBox="1"/>
          <p:nvPr/>
        </p:nvSpPr>
        <p:spPr>
          <a:xfrm>
            <a:off x="4892040" y="1874520"/>
            <a:ext cx="3474720" cy="457200"/>
          </a:xfrm>
          <a:prstGeom prst="rect">
            <a:avLst/>
          </a:prstGeom>
          <a:noFill/>
          <a:ln/>
        </p:spPr>
        <p:txBody>
          <a:bodyPr wrap="square" lIns="0" tIns="0" rIns="0" bIns="0" rtlCol="0" anchor="t"/>
          <a:lstStyle/>
          <a:p>
            <a:pPr indent="0" marL="0">
              <a:buNone/>
            </a:pPr>
            <a:r>
              <a:rPr lang="en-US" sz="1600" b="1" dirty="0">
                <a:solidFill>
                  <a:schemeClr val="tx1"/>
                </a:solidFill>
              </a:rPr>
              <a:t>M(h) = min over classes of d²(h, class)</a:t>
            </a:r>
            <a:endParaRPr lang="en-US" sz="1600" dirty="0"/>
          </a:p>
        </p:txBody>
      </p:sp>
      <p:sp>
        <p:nvSpPr>
          <p:cNvPr id="11" name="Score body 2"/>
          <p:cNvSpPr txBox="1"/>
          <p:nvPr/>
        </p:nvSpPr>
        <p:spPr>
          <a:xfrm>
            <a:off x="4892040" y="2423160"/>
            <a:ext cx="3474720" cy="868680"/>
          </a:xfrm>
          <a:prstGeom prst="rect">
            <a:avLst/>
          </a:prstGeom>
          <a:noFill/>
          <a:ln/>
        </p:spPr>
        <p:txBody>
          <a:bodyPr wrap="square" lIns="0" tIns="0" rIns="0" bIns="0" rtlCol="0" anchor="t"/>
          <a:lstStyle/>
          <a:p>
            <a:pPr indent="0" marL="0">
              <a:buNone/>
            </a:pPr>
            <a:r>
              <a:rPr lang="en-US" sz="1400" dirty="0">
                <a:solidFill>
                  <a:schemeClr val="tx1"/>
                </a:solidFill>
              </a:rPr>
              <a:t>Squared Mahalanobis distance from the nearest known-class cluster in embedding space.</a:t>
            </a:r>
            <a:endParaRPr lang="en-US" sz="1400" dirty="0"/>
          </a:p>
        </p:txBody>
      </p:sp>
      <p:sp>
        <p:nvSpPr>
          <p:cNvPr id="12" name="Fusion bar"/>
          <p:cNvSpPr/>
          <p:nvPr/>
        </p:nvSpPr>
        <p:spPr>
          <a:xfrm>
            <a:off x="457200" y="3657600"/>
            <a:ext cx="8138160" cy="868680"/>
          </a:xfrm>
          <a:prstGeom prst="roundRect">
            <a:avLst>
              <a:gd name="adj" fmla="val 12632"/>
            </a:avLst>
          </a:prstGeom>
          <a:solidFill>
            <a:srgbClr val="F26B1D"/>
          </a:solidFill>
          <a:ln w="12700">
            <a:solidFill>
              <a:srgbClr val="F26B1D"/>
            </a:solidFill>
            <a:prstDash val="solid"/>
          </a:ln>
        </p:spPr>
      </p:sp>
      <p:sp>
        <p:nvSpPr>
          <p:cNvPr id="13" name="Fusion text"/>
          <p:cNvSpPr txBox="1"/>
          <p:nvPr/>
        </p:nvSpPr>
        <p:spPr>
          <a:xfrm>
            <a:off x="685800" y="3657600"/>
            <a:ext cx="7680960" cy="868680"/>
          </a:xfrm>
          <a:prstGeom prst="rect">
            <a:avLst/>
          </a:prstGeom>
          <a:noFill/>
          <a:ln/>
        </p:spPr>
        <p:txBody>
          <a:bodyPr wrap="square" lIns="0" tIns="0" rIns="0" bIns="0" rtlCol="0" anchor="ctr"/>
          <a:lstStyle/>
          <a:p>
            <a:pPr indent="0" marL="0">
              <a:buNone/>
            </a:pPr>
            <a:r>
              <a:rPr lang="en-US" sz="1600" b="1" dirty="0">
                <a:solidFill>
                  <a:srgbClr val="FFFFFF"/>
                </a:solidFill>
              </a:rPr>
              <a:t>Fuse: u = ½ · F_E(E) + ½ · F_M(M), with F the empirical CDF on training data. One novelty score between 0 and 1.</a:t>
            </a:r>
            <a:endParaRPr lang="en-US" sz="16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Conformal gate</a:t>
            </a:r>
            <a:endParaRPr lang="en-US" sz="3400" dirty="0"/>
          </a:p>
        </p:txBody>
      </p:sp>
      <p:sp>
        <p:nvSpPr>
          <p:cNvPr id="4" name="Alpha stat"/>
          <p:cNvSpPr txBox="1"/>
          <p:nvPr/>
        </p:nvSpPr>
        <p:spPr>
          <a:xfrm>
            <a:off x="457200" y="1371600"/>
            <a:ext cx="3108960" cy="1097280"/>
          </a:xfrm>
          <a:prstGeom prst="rect">
            <a:avLst/>
          </a:prstGeom>
          <a:noFill/>
          <a:ln/>
        </p:spPr>
        <p:txBody>
          <a:bodyPr wrap="square" lIns="0" tIns="0" rIns="0" bIns="0" rtlCol="0" anchor="t"/>
          <a:lstStyle/>
          <a:p>
            <a:pPr indent="0" marL="0">
              <a:buNone/>
            </a:pPr>
            <a:r>
              <a:rPr lang="en-US" sz="6000" b="1" dirty="0">
                <a:solidFill>
                  <a:schemeClr val="accent1"/>
                </a:solidFill>
                <a:latin typeface="Cambria" pitchFamily="34" charset="0"/>
                <a:ea typeface="Cambria" pitchFamily="34" charset="-122"/>
                <a:cs typeface="Cambria" pitchFamily="34" charset="-120"/>
              </a:rPr>
              <a:t>α = 5%</a:t>
            </a:r>
            <a:endParaRPr lang="en-US" sz="6000" dirty="0"/>
          </a:p>
        </p:txBody>
      </p:sp>
      <p:sp>
        <p:nvSpPr>
          <p:cNvPr id="5" name="Alpha label"/>
          <p:cNvSpPr txBox="1"/>
          <p:nvPr/>
        </p:nvSpPr>
        <p:spPr>
          <a:xfrm>
            <a:off x="457200" y="2514600"/>
            <a:ext cx="3108960" cy="548640"/>
          </a:xfrm>
          <a:prstGeom prst="rect">
            <a:avLst/>
          </a:prstGeom>
          <a:noFill/>
          <a:ln/>
        </p:spPr>
        <p:txBody>
          <a:bodyPr wrap="square" lIns="0" tIns="0" rIns="0" bIns="0" rtlCol="0" anchor="t"/>
          <a:lstStyle/>
          <a:p>
            <a:pPr indent="0" marL="0">
              <a:buNone/>
            </a:pPr>
            <a:r>
              <a:rPr lang="en-US" sz="1400" dirty="0">
                <a:solidFill>
                  <a:schemeClr val="tx1"/>
                </a:solidFill>
              </a:rPr>
              <a:t>alert budget, set by audit capacity</a:t>
            </a:r>
            <a:endParaRPr lang="en-US" sz="1400" dirty="0"/>
          </a:p>
        </p:txBody>
      </p:sp>
      <p:sp>
        <p:nvSpPr>
          <p:cNvPr id="6" name="Formula card"/>
          <p:cNvSpPr/>
          <p:nvPr/>
        </p:nvSpPr>
        <p:spPr>
          <a:xfrm>
            <a:off x="457200" y="3200400"/>
            <a:ext cx="3108960" cy="1143000"/>
          </a:xfrm>
          <a:prstGeom prst="roundRect">
            <a:avLst>
              <a:gd name="adj" fmla="val 9600"/>
            </a:avLst>
          </a:prstGeom>
          <a:solidFill>
            <a:srgbClr val="FFF3E8"/>
          </a:solidFill>
          <a:ln w="12700">
            <a:solidFill>
              <a:srgbClr val="FFF3E8"/>
            </a:solidFill>
            <a:prstDash val="solid"/>
          </a:ln>
        </p:spPr>
      </p:sp>
      <p:sp>
        <p:nvSpPr>
          <p:cNvPr id="7" name="Formula text"/>
          <p:cNvSpPr txBox="1"/>
          <p:nvPr/>
        </p:nvSpPr>
        <p:spPr>
          <a:xfrm>
            <a:off x="594360" y="3200400"/>
            <a:ext cx="2834640" cy="1143000"/>
          </a:xfrm>
          <a:prstGeom prst="rect">
            <a:avLst/>
          </a:prstGeom>
          <a:noFill/>
          <a:ln/>
        </p:spPr>
        <p:txBody>
          <a:bodyPr wrap="square" lIns="0" tIns="0" rIns="0" bIns="0" rtlCol="0" anchor="ctr"/>
          <a:lstStyle/>
          <a:p>
            <a:pPr indent="0" marL="0">
              <a:buNone/>
            </a:pPr>
            <a:r>
              <a:rPr lang="en-US" sz="1400" b="1" dirty="0">
                <a:solidFill>
                  <a:schemeClr val="tx1"/>
                </a:solidFill>
              </a:rPr>
              <a:t>p = (1 + count of calibration</a:t>
            </a:r>
            <a:endParaRPr lang="en-US" sz="1400" dirty="0"/>
          </a:p>
          <a:p>
            <a:pPr indent="0" marL="0">
              <a:buNone/>
            </a:pPr>
            <a:r>
              <a:rPr lang="en-US" sz="1400" b="1" dirty="0">
                <a:solidFill>
                  <a:schemeClr val="tx1"/>
                </a:solidFill>
              </a:rPr>
              <a:t>scores ≥ u) / (n + 1)</a:t>
            </a:r>
            <a:endParaRPr lang="en-US" sz="1400" dirty="0"/>
          </a:p>
          <a:p>
            <a:pPr indent="0" marL="0">
              <a:buNone/>
            </a:pPr>
            <a:r>
              <a:rPr lang="en-US" sz="1400" b="1" dirty="0">
                <a:solidFill>
                  <a:schemeClr val="tx1"/>
                </a:solidFill>
              </a:rPr>
              <a:t>Reject if p ≤ α</a:t>
            </a:r>
            <a:endParaRPr lang="en-US" sz="1400" dirty="0"/>
          </a:p>
        </p:txBody>
      </p:sp>
      <p:sp>
        <p:nvSpPr>
          <p:cNvPr id="8" name="Step circle 1"/>
          <p:cNvSpPr/>
          <p:nvPr/>
        </p:nvSpPr>
        <p:spPr>
          <a:xfrm>
            <a:off x="4023360" y="1371600"/>
            <a:ext cx="548640" cy="548640"/>
          </a:xfrm>
          <a:prstGeom prst="ellipse">
            <a:avLst/>
          </a:prstGeom>
          <a:solidFill>
            <a:schemeClr val="accent2"/>
          </a:solidFill>
          <a:ln w="12700">
            <a:solidFill>
              <a:schemeClr val="accent2"/>
            </a:solidFill>
            <a:prstDash val="solid"/>
          </a:ln>
        </p:spPr>
      </p:sp>
      <p:sp>
        <p:nvSpPr>
          <p:cNvPr id="9" name="Step number 1"/>
          <p:cNvSpPr txBox="1"/>
          <p:nvPr/>
        </p:nvSpPr>
        <p:spPr>
          <a:xfrm>
            <a:off x="4023360" y="137160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10" name="Step head 1"/>
          <p:cNvSpPr txBox="1"/>
          <p:nvPr/>
        </p:nvSpPr>
        <p:spPr>
          <a:xfrm>
            <a:off x="4754880" y="1344168"/>
            <a:ext cx="3931920" cy="320040"/>
          </a:xfrm>
          <a:prstGeom prst="rect">
            <a:avLst/>
          </a:prstGeom>
          <a:noFill/>
          <a:ln/>
        </p:spPr>
        <p:txBody>
          <a:bodyPr wrap="square" lIns="0" tIns="0" rIns="0" bIns="0" rtlCol="0" anchor="t"/>
          <a:lstStyle/>
          <a:p>
            <a:pPr indent="0" marL="0">
              <a:buNone/>
            </a:pPr>
            <a:r>
              <a:rPr lang="en-US" sz="1800" b="1" dirty="0">
                <a:solidFill>
                  <a:schemeClr val="tx1"/>
                </a:solidFill>
              </a:rPr>
              <a:t>Hold out a calibration window</a:t>
            </a:r>
            <a:endParaRPr lang="en-US" sz="1800" dirty="0"/>
          </a:p>
        </p:txBody>
      </p:sp>
      <p:sp>
        <p:nvSpPr>
          <p:cNvPr id="11" name="Step body 1"/>
          <p:cNvSpPr txBox="1"/>
          <p:nvPr/>
        </p:nvSpPr>
        <p:spPr>
          <a:xfrm>
            <a:off x="4754880" y="1691640"/>
            <a:ext cx="3931920" cy="548640"/>
          </a:xfrm>
          <a:prstGeom prst="rect">
            <a:avLst/>
          </a:prstGeom>
          <a:noFill/>
          <a:ln/>
        </p:spPr>
        <p:txBody>
          <a:bodyPr wrap="square" lIns="0" tIns="0" rIns="0" bIns="0" rtlCol="0" anchor="t"/>
          <a:lstStyle/>
          <a:p>
            <a:pPr indent="0" marL="0">
              <a:buNone/>
            </a:pPr>
            <a:r>
              <a:rPr lang="en-US" sz="1400" dirty="0">
                <a:solidFill>
                  <a:schemeClr val="tx1"/>
                </a:solidFill>
              </a:rPr>
              <a:t>Known-class claims only, disjoint from training.</a:t>
            </a:r>
            <a:endParaRPr lang="en-US" sz="1400" dirty="0"/>
          </a:p>
        </p:txBody>
      </p:sp>
      <p:sp>
        <p:nvSpPr>
          <p:cNvPr id="12" name="Step circle 2"/>
          <p:cNvSpPr/>
          <p:nvPr/>
        </p:nvSpPr>
        <p:spPr>
          <a:xfrm>
            <a:off x="4023360" y="2331720"/>
            <a:ext cx="548640" cy="548640"/>
          </a:xfrm>
          <a:prstGeom prst="ellipse">
            <a:avLst/>
          </a:prstGeom>
          <a:solidFill>
            <a:schemeClr val="accent2"/>
          </a:solidFill>
          <a:ln w="12700">
            <a:solidFill>
              <a:schemeClr val="accent2"/>
            </a:solidFill>
            <a:prstDash val="solid"/>
          </a:ln>
        </p:spPr>
      </p:sp>
      <p:sp>
        <p:nvSpPr>
          <p:cNvPr id="13" name="Step number 2"/>
          <p:cNvSpPr txBox="1"/>
          <p:nvPr/>
        </p:nvSpPr>
        <p:spPr>
          <a:xfrm>
            <a:off x="4023360" y="233172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4" name="Step head 2"/>
          <p:cNvSpPr txBox="1"/>
          <p:nvPr/>
        </p:nvSpPr>
        <p:spPr>
          <a:xfrm>
            <a:off x="4754880" y="2304288"/>
            <a:ext cx="3931920" cy="320040"/>
          </a:xfrm>
          <a:prstGeom prst="rect">
            <a:avLst/>
          </a:prstGeom>
          <a:noFill/>
          <a:ln/>
        </p:spPr>
        <p:txBody>
          <a:bodyPr wrap="square" lIns="0" tIns="0" rIns="0" bIns="0" rtlCol="0" anchor="t"/>
          <a:lstStyle/>
          <a:p>
            <a:pPr indent="0" marL="0">
              <a:buNone/>
            </a:pPr>
            <a:r>
              <a:rPr lang="en-US" sz="1800" b="1" dirty="0">
                <a:solidFill>
                  <a:schemeClr val="tx1"/>
                </a:solidFill>
              </a:rPr>
              <a:t>Score every new claim</a:t>
            </a:r>
            <a:endParaRPr lang="en-US" sz="1800" dirty="0"/>
          </a:p>
        </p:txBody>
      </p:sp>
      <p:sp>
        <p:nvSpPr>
          <p:cNvPr id="15" name="Step body 2"/>
          <p:cNvSpPr txBox="1"/>
          <p:nvPr/>
        </p:nvSpPr>
        <p:spPr>
          <a:xfrm>
            <a:off x="4754880" y="2651760"/>
            <a:ext cx="3931920" cy="548640"/>
          </a:xfrm>
          <a:prstGeom prst="rect">
            <a:avLst/>
          </a:prstGeom>
          <a:noFill/>
          <a:ln/>
        </p:spPr>
        <p:txBody>
          <a:bodyPr wrap="square" lIns="0" tIns="0" rIns="0" bIns="0" rtlCol="0" anchor="t"/>
          <a:lstStyle/>
          <a:p>
            <a:pPr indent="0" marL="0">
              <a:buNone/>
            </a:pPr>
            <a:r>
              <a:rPr lang="en-US" sz="1400" dirty="0">
                <a:solidFill>
                  <a:schemeClr val="tx1"/>
                </a:solidFill>
              </a:rPr>
              <a:t>Compute its p-value against that window.</a:t>
            </a:r>
            <a:endParaRPr lang="en-US" sz="1400" dirty="0"/>
          </a:p>
        </p:txBody>
      </p:sp>
      <p:sp>
        <p:nvSpPr>
          <p:cNvPr id="16" name="Step circle 3"/>
          <p:cNvSpPr/>
          <p:nvPr/>
        </p:nvSpPr>
        <p:spPr>
          <a:xfrm>
            <a:off x="4023360" y="3291840"/>
            <a:ext cx="548640" cy="548640"/>
          </a:xfrm>
          <a:prstGeom prst="ellipse">
            <a:avLst/>
          </a:prstGeom>
          <a:solidFill>
            <a:schemeClr val="accent2"/>
          </a:solidFill>
          <a:ln w="12700">
            <a:solidFill>
              <a:schemeClr val="accent2"/>
            </a:solidFill>
            <a:prstDash val="solid"/>
          </a:ln>
        </p:spPr>
      </p:sp>
      <p:sp>
        <p:nvSpPr>
          <p:cNvPr id="17" name="Step number 3"/>
          <p:cNvSpPr txBox="1"/>
          <p:nvPr/>
        </p:nvSpPr>
        <p:spPr>
          <a:xfrm>
            <a:off x="4023360" y="329184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8" name="Step head 3"/>
          <p:cNvSpPr txBox="1"/>
          <p:nvPr/>
        </p:nvSpPr>
        <p:spPr>
          <a:xfrm>
            <a:off x="4754880" y="3264408"/>
            <a:ext cx="3931920" cy="320040"/>
          </a:xfrm>
          <a:prstGeom prst="rect">
            <a:avLst/>
          </a:prstGeom>
          <a:noFill/>
          <a:ln/>
        </p:spPr>
        <p:txBody>
          <a:bodyPr wrap="square" lIns="0" tIns="0" rIns="0" bIns="0" rtlCol="0" anchor="t"/>
          <a:lstStyle/>
          <a:p>
            <a:pPr indent="0" marL="0">
              <a:buNone/>
            </a:pPr>
            <a:r>
              <a:rPr lang="en-US" sz="1800" b="1" dirty="0">
                <a:solidFill>
                  <a:schemeClr val="tx1"/>
                </a:solidFill>
              </a:rPr>
              <a:t>Reject if p ≤ α</a:t>
            </a:r>
            <a:endParaRPr lang="en-US" sz="1800" dirty="0"/>
          </a:p>
        </p:txBody>
      </p:sp>
      <p:sp>
        <p:nvSpPr>
          <p:cNvPr id="19" name="Step body 3"/>
          <p:cNvSpPr txBox="1"/>
          <p:nvPr/>
        </p:nvSpPr>
        <p:spPr>
          <a:xfrm>
            <a:off x="4754880" y="3611880"/>
            <a:ext cx="3931920" cy="548640"/>
          </a:xfrm>
          <a:prstGeom prst="rect">
            <a:avLst/>
          </a:prstGeom>
          <a:noFill/>
          <a:ln/>
        </p:spPr>
        <p:txBody>
          <a:bodyPr wrap="square" lIns="0" tIns="0" rIns="0" bIns="0" rtlCol="0" anchor="t"/>
          <a:lstStyle/>
          <a:p>
            <a:pPr indent="0" marL="0">
              <a:buNone/>
            </a:pPr>
            <a:r>
              <a:rPr lang="en-US" sz="1400" dirty="0">
                <a:solidFill>
                  <a:schemeClr val="tx1"/>
                </a:solidFill>
              </a:rPr>
              <a:t>About 5% of normal claims reach the next stage, by design.</a:t>
            </a:r>
            <a:endParaRPr lang="en-US" sz="1400" dirty="0"/>
          </a:p>
        </p:txBody>
      </p:sp>
      <p:sp>
        <p:nvSpPr>
          <p:cNvPr id="20" name="Conformal caveat"/>
          <p:cNvSpPr txBox="1"/>
          <p:nvPr/>
        </p:nvSpPr>
        <p:spPr>
          <a:xfrm>
            <a:off x="4023360" y="4297680"/>
            <a:ext cx="4663440" cy="365760"/>
          </a:xfrm>
          <a:prstGeom prst="rect">
            <a:avLst/>
          </a:prstGeom>
          <a:noFill/>
          <a:ln/>
        </p:spPr>
        <p:txBody>
          <a:bodyPr wrap="square" lIns="0" tIns="0" rIns="0" bIns="0" rtlCol="0" anchor="t"/>
          <a:lstStyle/>
          <a:p>
            <a:pPr indent="0" marL="0">
              <a:buNone/>
            </a:pPr>
            <a:r>
              <a:rPr lang="en-US" sz="1200" dirty="0">
                <a:solidFill>
                  <a:schemeClr val="accent4"/>
                </a:solidFill>
              </a:rPr>
              <a:t>The guarantee is marginal and assumes exchangeability. Drift is tested, not assumed away.</a:t>
            </a:r>
            <a:endParaRPr lang="en-US" sz="12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Explained-Rarity Filter</a:t>
            </a:r>
            <a:endParaRPr lang="en-US" sz="3400" dirty="0"/>
          </a:p>
        </p:txBody>
      </p:sp>
      <p:sp>
        <p:nvSpPr>
          <p:cNvPr id="4" name="Case card 1"/>
          <p:cNvSpPr/>
          <p:nvPr/>
        </p:nvSpPr>
        <p:spPr>
          <a:xfrm>
            <a:off x="457200" y="1280160"/>
            <a:ext cx="3931920" cy="2194560"/>
          </a:xfrm>
          <a:prstGeom prst="roundRect">
            <a:avLst>
              <a:gd name="adj" fmla="val 5000"/>
            </a:avLst>
          </a:prstGeom>
          <a:solidFill>
            <a:srgbClr val="D9F0EC"/>
          </a:solidFill>
          <a:ln w="12700">
            <a:solidFill>
              <a:srgbClr val="D9F0EC"/>
            </a:solidFill>
            <a:prstDash val="solid"/>
          </a:ln>
          <a:effectLst>
            <a:outerShdw sx="100000" sy="100000" kx="0" ky="0" algn="bl" rotWithShape="0" blurRad="76200" dist="25400" dir="5400000">
              <a:srgbClr val="000000">
                <a:alpha val="12000"/>
              </a:srgbClr>
            </a:outerShdw>
          </a:effectLst>
        </p:spPr>
      </p:sp>
      <p:sp>
        <p:nvSpPr>
          <p:cNvPr id="5" name="Case icon 1 circle"/>
          <p:cNvSpPr/>
          <p:nvPr/>
        </p:nvSpPr>
        <p:spPr>
          <a:xfrm>
            <a:off x="685800" y="1463040"/>
            <a:ext cx="594360" cy="594360"/>
          </a:xfrm>
          <a:prstGeom prst="ellipse">
            <a:avLst/>
          </a:prstGeom>
          <a:solidFill>
            <a:srgbClr val="0F766E"/>
          </a:solidFill>
          <a:ln w="12700">
            <a:solidFill>
              <a:srgbClr val="0F766E"/>
            </a:solidFill>
            <a:prstDash val="solid"/>
          </a:ln>
        </p:spPr>
      </p:sp>
      <p:pic>
        <p:nvPicPr>
          <p:cNvPr id="6" name="Case icon 1" descr="preencoded.png">    </p:cNvPr>
          <p:cNvPicPr>
            <a:picLocks noChangeAspect="1"/>
          </p:cNvPicPr>
          <p:nvPr/>
        </p:nvPicPr>
        <p:blipFill>
          <a:blip r:embed="rId1"/>
          <a:stretch>
            <a:fillRect/>
          </a:stretch>
        </p:blipFill>
        <p:spPr>
          <a:xfrm>
            <a:off x="834390" y="1611630"/>
            <a:ext cx="297180" cy="297180"/>
          </a:xfrm>
          <a:prstGeom prst="rect">
            <a:avLst/>
          </a:prstGeom>
        </p:spPr>
      </p:pic>
      <p:sp>
        <p:nvSpPr>
          <p:cNvPr id="7" name="Case head 1"/>
          <p:cNvSpPr txBox="1"/>
          <p:nvPr/>
        </p:nvSpPr>
        <p:spPr>
          <a:xfrm>
            <a:off x="1508760" y="1463040"/>
            <a:ext cx="2743200" cy="594360"/>
          </a:xfrm>
          <a:prstGeom prst="rect">
            <a:avLst/>
          </a:prstGeom>
          <a:noFill/>
          <a:ln/>
        </p:spPr>
        <p:txBody>
          <a:bodyPr wrap="square" lIns="0" tIns="0" rIns="0" bIns="0" rtlCol="0" anchor="ctr"/>
          <a:lstStyle/>
          <a:p>
            <a:pPr indent="0" marL="0">
              <a:buNone/>
            </a:pPr>
            <a:r>
              <a:rPr lang="en-US" sz="1800" b="1" dirty="0">
                <a:solidFill>
                  <a:schemeClr val="tx1"/>
                </a:solidFill>
              </a:rPr>
              <a:t>Polytrauma (legitimate)</a:t>
            </a:r>
            <a:endParaRPr lang="en-US" sz="1800" dirty="0"/>
          </a:p>
        </p:txBody>
      </p:sp>
      <p:sp>
        <p:nvSpPr>
          <p:cNvPr id="8" name="Case body 1"/>
          <p:cNvSpPr txBox="1"/>
          <p:nvPr/>
        </p:nvSpPr>
        <p:spPr>
          <a:xfrm>
            <a:off x="685800" y="2240280"/>
            <a:ext cx="3474720" cy="1143000"/>
          </a:xfrm>
          <a:prstGeom prst="rect">
            <a:avLst/>
          </a:prstGeom>
          <a:noFill/>
          <a:ln/>
        </p:spPr>
        <p:txBody>
          <a:bodyPr wrap="square" lIns="0" tIns="0" rIns="0" bIns="0" rtlCol="0" anchor="t"/>
          <a:lstStyle/>
          <a:p>
            <a:pPr indent="0" marL="0">
              <a:buNone/>
            </a:pPr>
            <a:r>
              <a:rPr lang="en-US" sz="1400" dirty="0">
                <a:solidFill>
                  <a:schemeClr val="tx1"/>
                </a:solidFill>
              </a:rPr>
              <a:t>High severity: the model expects a high cost and a wide spread. a ≤ τ, so the claim is explained and settled.</a:t>
            </a:r>
            <a:endParaRPr lang="en-US" sz="1400" dirty="0"/>
          </a:p>
        </p:txBody>
      </p:sp>
      <p:sp>
        <p:nvSpPr>
          <p:cNvPr id="9" name="Case card 2"/>
          <p:cNvSpPr/>
          <p:nvPr/>
        </p:nvSpPr>
        <p:spPr>
          <a:xfrm>
            <a:off x="4663440" y="1280160"/>
            <a:ext cx="3931920" cy="2194560"/>
          </a:xfrm>
          <a:prstGeom prst="roundRect">
            <a:avLst>
              <a:gd name="adj" fmla="val 5000"/>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10" name="Case icon 2 circle"/>
          <p:cNvSpPr/>
          <p:nvPr/>
        </p:nvSpPr>
        <p:spPr>
          <a:xfrm>
            <a:off x="4892040" y="1463040"/>
            <a:ext cx="594360" cy="594360"/>
          </a:xfrm>
          <a:prstGeom prst="ellipse">
            <a:avLst/>
          </a:prstGeom>
          <a:solidFill>
            <a:srgbClr val="F26B1D"/>
          </a:solidFill>
          <a:ln w="12700">
            <a:solidFill>
              <a:srgbClr val="F26B1D"/>
            </a:solidFill>
            <a:prstDash val="solid"/>
          </a:ln>
        </p:spPr>
      </p:sp>
      <p:pic>
        <p:nvPicPr>
          <p:cNvPr id="11" name="Case icon 2" descr="preencoded.png">    </p:cNvPr>
          <p:cNvPicPr>
            <a:picLocks noChangeAspect="1"/>
          </p:cNvPicPr>
          <p:nvPr/>
        </p:nvPicPr>
        <p:blipFill>
          <a:blip r:embed="rId2"/>
          <a:stretch>
            <a:fillRect/>
          </a:stretch>
        </p:blipFill>
        <p:spPr>
          <a:xfrm>
            <a:off x="5040630" y="1611630"/>
            <a:ext cx="297180" cy="297180"/>
          </a:xfrm>
          <a:prstGeom prst="rect">
            <a:avLst/>
          </a:prstGeom>
        </p:spPr>
      </p:pic>
      <p:sp>
        <p:nvSpPr>
          <p:cNvPr id="12" name="Case head 2"/>
          <p:cNvSpPr txBox="1"/>
          <p:nvPr/>
        </p:nvSpPr>
        <p:spPr>
          <a:xfrm>
            <a:off x="5715000" y="1463040"/>
            <a:ext cx="2743200" cy="594360"/>
          </a:xfrm>
          <a:prstGeom prst="rect">
            <a:avLst/>
          </a:prstGeom>
          <a:noFill/>
          <a:ln/>
        </p:spPr>
        <p:txBody>
          <a:bodyPr wrap="square" lIns="0" tIns="0" rIns="0" bIns="0" rtlCol="0" anchor="ctr"/>
          <a:lstStyle/>
          <a:p>
            <a:pPr indent="0" marL="0">
              <a:buNone/>
            </a:pPr>
            <a:r>
              <a:rPr lang="en-US" sz="1800" b="1" dirty="0">
                <a:solidFill>
                  <a:schemeClr val="tx1"/>
                </a:solidFill>
              </a:rPr>
              <a:t>Phantom billing (fraud)</a:t>
            </a:r>
            <a:endParaRPr lang="en-US" sz="1800" dirty="0"/>
          </a:p>
        </p:txBody>
      </p:sp>
      <p:sp>
        <p:nvSpPr>
          <p:cNvPr id="13" name="Case body 2"/>
          <p:cNvSpPr txBox="1"/>
          <p:nvPr/>
        </p:nvSpPr>
        <p:spPr>
          <a:xfrm>
            <a:off x="4892040" y="2240280"/>
            <a:ext cx="3474720" cy="1143000"/>
          </a:xfrm>
          <a:prstGeom prst="rect">
            <a:avLst/>
          </a:prstGeom>
          <a:noFill/>
          <a:ln/>
        </p:spPr>
        <p:txBody>
          <a:bodyPr wrap="square" lIns="0" tIns="0" rIns="0" bIns="0" rtlCol="0" anchor="t"/>
          <a:lstStyle/>
          <a:p>
            <a:pPr indent="0" marL="0">
              <a:buNone/>
            </a:pPr>
            <a:r>
              <a:rPr lang="en-US" sz="1400" dirty="0">
                <a:solidFill>
                  <a:schemeClr val="tx1"/>
                </a:solidFill>
              </a:rPr>
              <a:t>Low severity, one-day stay, high amount. a &gt; τ, so the claim is unexplained and escalated.</a:t>
            </a:r>
            <a:endParaRPr lang="en-US" sz="1400" dirty="0"/>
          </a:p>
        </p:txBody>
      </p:sp>
      <p:sp>
        <p:nvSpPr>
          <p:cNvPr id="14" name="Formula strip"/>
          <p:cNvSpPr/>
          <p:nvPr/>
        </p:nvSpPr>
        <p:spPr>
          <a:xfrm>
            <a:off x="457200" y="3657600"/>
            <a:ext cx="8138160" cy="868680"/>
          </a:xfrm>
          <a:prstGeom prst="roundRect">
            <a:avLst>
              <a:gd name="adj" fmla="val 12632"/>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15" name="Formula strip text"/>
          <p:cNvSpPr txBox="1"/>
          <p:nvPr/>
        </p:nvSpPr>
        <p:spPr>
          <a:xfrm>
            <a:off x="640080" y="3657600"/>
            <a:ext cx="7772400" cy="868680"/>
          </a:xfrm>
          <a:prstGeom prst="rect">
            <a:avLst/>
          </a:prstGeom>
          <a:noFill/>
          <a:ln/>
        </p:spPr>
        <p:txBody>
          <a:bodyPr wrap="square" lIns="0" tIns="0" rIns="0" bIns="0" rtlCol="0" anchor="ctr"/>
          <a:lstStyle/>
          <a:p>
            <a:pPr indent="0" marL="0">
              <a:buNone/>
            </a:pPr>
            <a:r>
              <a:rPr lang="en-US" sz="1400" b="1" dirty="0">
                <a:solidFill>
                  <a:schemeClr val="tx1"/>
                </a:solidFill>
              </a:rPr>
              <a:t>a = max over targets of max(0, (observed − μ) / σ).  Escalate only if a &gt; τ, with τ calibrated on benign claims. Inputs are exogenous only.</a:t>
            </a:r>
            <a:endParaRPr lang="en-US" sz="1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Experiment design</a:t>
            </a:r>
            <a:endParaRPr lang="en-US" sz="3400" dirty="0"/>
          </a:p>
        </p:txBody>
      </p:sp>
      <p:sp>
        <p:nvSpPr>
          <p:cNvPr id="4" name="Mechanism chip 1"/>
          <p:cNvSpPr/>
          <p:nvPr/>
        </p:nvSpPr>
        <p:spPr>
          <a:xfrm>
            <a:off x="457200" y="1280160"/>
            <a:ext cx="1874520" cy="640080"/>
          </a:xfrm>
          <a:prstGeom prst="roundRect">
            <a:avLst>
              <a:gd name="adj" fmla="val 17143"/>
            </a:avLst>
          </a:prstGeom>
          <a:solidFill>
            <a:srgbClr val="FFF3E8"/>
          </a:solidFill>
          <a:ln w="12700">
            <a:solidFill>
              <a:srgbClr val="FFF3E8"/>
            </a:solidFill>
            <a:prstDash val="solid"/>
          </a:ln>
        </p:spPr>
      </p:sp>
      <p:sp>
        <p:nvSpPr>
          <p:cNvPr id="5" name="Mechanism text 1"/>
          <p:cNvSpPr txBox="1"/>
          <p:nvPr/>
        </p:nvSpPr>
        <p:spPr>
          <a:xfrm>
            <a:off x="457200" y="1280160"/>
            <a:ext cx="1874520" cy="640080"/>
          </a:xfrm>
          <a:prstGeom prst="rect">
            <a:avLst/>
          </a:prstGeom>
          <a:noFill/>
          <a:ln/>
        </p:spPr>
        <p:txBody>
          <a:bodyPr wrap="square" lIns="0" tIns="0" rIns="0" bIns="0" rtlCol="0" anchor="ctr"/>
          <a:lstStyle/>
          <a:p>
            <a:pPr algn="ctr" indent="0" marL="0">
              <a:buNone/>
            </a:pPr>
            <a:r>
              <a:rPr lang="en-US" sz="1600" b="1" dirty="0">
                <a:solidFill>
                  <a:schemeClr val="tx1"/>
                </a:solidFill>
              </a:rPr>
              <a:t>Upcoding</a:t>
            </a:r>
            <a:endParaRPr lang="en-US" sz="1600" dirty="0"/>
          </a:p>
        </p:txBody>
      </p:sp>
      <p:sp>
        <p:nvSpPr>
          <p:cNvPr id="6" name="Mechanism chip 2"/>
          <p:cNvSpPr/>
          <p:nvPr/>
        </p:nvSpPr>
        <p:spPr>
          <a:xfrm>
            <a:off x="2532888" y="1280160"/>
            <a:ext cx="1874520" cy="640080"/>
          </a:xfrm>
          <a:prstGeom prst="roundRect">
            <a:avLst>
              <a:gd name="adj" fmla="val 17143"/>
            </a:avLst>
          </a:prstGeom>
          <a:solidFill>
            <a:srgbClr val="FFF3E8"/>
          </a:solidFill>
          <a:ln w="12700">
            <a:solidFill>
              <a:srgbClr val="FFF3E8"/>
            </a:solidFill>
            <a:prstDash val="solid"/>
          </a:ln>
        </p:spPr>
      </p:sp>
      <p:sp>
        <p:nvSpPr>
          <p:cNvPr id="7" name="Mechanism text 2"/>
          <p:cNvSpPr txBox="1"/>
          <p:nvPr/>
        </p:nvSpPr>
        <p:spPr>
          <a:xfrm>
            <a:off x="2532888" y="1280160"/>
            <a:ext cx="1874520" cy="640080"/>
          </a:xfrm>
          <a:prstGeom prst="rect">
            <a:avLst/>
          </a:prstGeom>
          <a:noFill/>
          <a:ln/>
        </p:spPr>
        <p:txBody>
          <a:bodyPr wrap="square" lIns="0" tIns="0" rIns="0" bIns="0" rtlCol="0" anchor="ctr"/>
          <a:lstStyle/>
          <a:p>
            <a:pPr algn="ctr" indent="0" marL="0">
              <a:buNone/>
            </a:pPr>
            <a:r>
              <a:rPr lang="en-US" sz="1600" b="1" dirty="0">
                <a:solidFill>
                  <a:schemeClr val="tx1"/>
                </a:solidFill>
              </a:rPr>
              <a:t>Unbundling</a:t>
            </a:r>
            <a:endParaRPr lang="en-US" sz="1600" dirty="0"/>
          </a:p>
        </p:txBody>
      </p:sp>
      <p:sp>
        <p:nvSpPr>
          <p:cNvPr id="8" name="Mechanism chip 3"/>
          <p:cNvSpPr/>
          <p:nvPr/>
        </p:nvSpPr>
        <p:spPr>
          <a:xfrm>
            <a:off x="4608576" y="1280160"/>
            <a:ext cx="1874520" cy="640080"/>
          </a:xfrm>
          <a:prstGeom prst="roundRect">
            <a:avLst>
              <a:gd name="adj" fmla="val 17143"/>
            </a:avLst>
          </a:prstGeom>
          <a:solidFill>
            <a:srgbClr val="FFF3E8"/>
          </a:solidFill>
          <a:ln w="12700">
            <a:solidFill>
              <a:srgbClr val="FFF3E8"/>
            </a:solidFill>
            <a:prstDash val="solid"/>
          </a:ln>
        </p:spPr>
      </p:sp>
      <p:sp>
        <p:nvSpPr>
          <p:cNvPr id="9" name="Mechanism text 3"/>
          <p:cNvSpPr txBox="1"/>
          <p:nvPr/>
        </p:nvSpPr>
        <p:spPr>
          <a:xfrm>
            <a:off x="4608576" y="1280160"/>
            <a:ext cx="1874520" cy="640080"/>
          </a:xfrm>
          <a:prstGeom prst="rect">
            <a:avLst/>
          </a:prstGeom>
          <a:noFill/>
          <a:ln/>
        </p:spPr>
        <p:txBody>
          <a:bodyPr wrap="square" lIns="0" tIns="0" rIns="0" bIns="0" rtlCol="0" anchor="ctr"/>
          <a:lstStyle/>
          <a:p>
            <a:pPr algn="ctr" indent="0" marL="0">
              <a:buNone/>
            </a:pPr>
            <a:r>
              <a:rPr lang="en-US" sz="1600" b="1" dirty="0">
                <a:solidFill>
                  <a:schemeClr val="tx1"/>
                </a:solidFill>
              </a:rPr>
              <a:t>Phantom billing</a:t>
            </a:r>
            <a:endParaRPr lang="en-US" sz="1600" dirty="0"/>
          </a:p>
        </p:txBody>
      </p:sp>
      <p:sp>
        <p:nvSpPr>
          <p:cNvPr id="10" name="Mechanism chip 4"/>
          <p:cNvSpPr/>
          <p:nvPr/>
        </p:nvSpPr>
        <p:spPr>
          <a:xfrm>
            <a:off x="6684264" y="1280160"/>
            <a:ext cx="1874520" cy="640080"/>
          </a:xfrm>
          <a:prstGeom prst="roundRect">
            <a:avLst>
              <a:gd name="adj" fmla="val 17143"/>
            </a:avLst>
          </a:prstGeom>
          <a:solidFill>
            <a:srgbClr val="E5E7EB"/>
          </a:solidFill>
          <a:ln w="12700">
            <a:solidFill>
              <a:srgbClr val="E5E7EB"/>
            </a:solidFill>
            <a:prstDash val="solid"/>
          </a:ln>
        </p:spPr>
      </p:sp>
      <p:sp>
        <p:nvSpPr>
          <p:cNvPr id="11" name="Mechanism text 4"/>
          <p:cNvSpPr txBox="1"/>
          <p:nvPr/>
        </p:nvSpPr>
        <p:spPr>
          <a:xfrm>
            <a:off x="6684264" y="1280160"/>
            <a:ext cx="1874520" cy="640080"/>
          </a:xfrm>
          <a:prstGeom prst="rect">
            <a:avLst/>
          </a:prstGeom>
          <a:noFill/>
          <a:ln/>
        </p:spPr>
        <p:txBody>
          <a:bodyPr wrap="square" lIns="0" tIns="0" rIns="0" bIns="0" rtlCol="0" anchor="ctr"/>
          <a:lstStyle/>
          <a:p>
            <a:pPr algn="ctr" indent="0" marL="0">
              <a:buNone/>
            </a:pPr>
            <a:r>
              <a:rPr lang="en-US" sz="1600" b="1" dirty="0">
                <a:solidFill>
                  <a:schemeClr val="tx1"/>
                </a:solidFill>
              </a:rPr>
              <a:t>Collusion*</a:t>
            </a:r>
            <a:endParaRPr lang="en-US" sz="1600" dirty="0"/>
          </a:p>
        </p:txBody>
      </p:sp>
      <p:sp>
        <p:nvSpPr>
          <p:cNvPr id="12" name="Mechanism caption"/>
          <p:cNvSpPr txBox="1"/>
          <p:nvPr/>
        </p:nvSpPr>
        <p:spPr>
          <a:xfrm>
            <a:off x="457200" y="2011680"/>
            <a:ext cx="8138160" cy="365760"/>
          </a:xfrm>
          <a:prstGeom prst="rect">
            <a:avLst/>
          </a:prstGeom>
          <a:noFill/>
          <a:ln/>
        </p:spPr>
        <p:txBody>
          <a:bodyPr wrap="square" lIns="0" tIns="0" rIns="0" bIns="0" rtlCol="0" anchor="t"/>
          <a:lstStyle/>
          <a:p>
            <a:pPr indent="0" marL="0">
              <a:buNone/>
            </a:pPr>
            <a:r>
              <a:rPr lang="en-US" sz="1200" dirty="0">
                <a:solidFill>
                  <a:schemeClr val="accent4"/>
                </a:solidFill>
              </a:rPr>
              <a:t>Rotate which one is hidden (leave-one-mechanism-out). *Collusion is a tabular proxy in the prototype.</a:t>
            </a:r>
            <a:endParaRPr lang="en-US" sz="1200" dirty="0"/>
          </a:p>
        </p:txBody>
      </p:sp>
      <p:sp>
        <p:nvSpPr>
          <p:cNvPr id="13" name="Design card 1"/>
          <p:cNvSpPr/>
          <p:nvPr/>
        </p:nvSpPr>
        <p:spPr>
          <a:xfrm>
            <a:off x="457200" y="2514600"/>
            <a:ext cx="2606040" cy="2011680"/>
          </a:xfrm>
          <a:prstGeom prst="roundRect">
            <a:avLst>
              <a:gd name="adj" fmla="val 5455"/>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14" name="Design head 1"/>
          <p:cNvSpPr txBox="1"/>
          <p:nvPr/>
        </p:nvSpPr>
        <p:spPr>
          <a:xfrm>
            <a:off x="640080" y="2606040"/>
            <a:ext cx="2240280" cy="320040"/>
          </a:xfrm>
          <a:prstGeom prst="rect">
            <a:avLst/>
          </a:prstGeom>
          <a:noFill/>
          <a:ln/>
        </p:spPr>
        <p:txBody>
          <a:bodyPr wrap="square" lIns="0" tIns="0" rIns="0" bIns="0" rtlCol="0" anchor="t"/>
          <a:lstStyle/>
          <a:p>
            <a:pPr indent="0" marL="0">
              <a:buNone/>
            </a:pPr>
            <a:r>
              <a:rPr lang="en-US" sz="1800" b="1" dirty="0">
                <a:solidFill>
                  <a:schemeClr val="tx2"/>
                </a:solidFill>
              </a:rPr>
              <a:t>Splits</a:t>
            </a:r>
            <a:endParaRPr lang="en-US" sz="1800" dirty="0"/>
          </a:p>
        </p:txBody>
      </p:sp>
      <p:sp>
        <p:nvSpPr>
          <p:cNvPr id="15" name="Design list 1"/>
          <p:cNvSpPr txBox="1"/>
          <p:nvPr/>
        </p:nvSpPr>
        <p:spPr>
          <a:xfrm>
            <a:off x="640080" y="3017520"/>
            <a:ext cx="224028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Train + calibrate on benign and 3 known mechanisms</a:t>
            </a:r>
            <a:endParaRPr lang="en-US" sz="1400" dirty="0"/>
          </a:p>
          <a:p>
            <a:pPr marL="342900" indent="-342900">
              <a:spcAft>
                <a:spcPts val="400"/>
              </a:spcAft>
              <a:buSzPct val="100000"/>
              <a:buChar char="•"/>
            </a:pPr>
            <a:r>
              <a:rPr lang="en-US" sz="1400" dirty="0">
                <a:solidFill>
                  <a:schemeClr val="tx1"/>
                </a:solidFill>
              </a:rPr>
              <a:t>Test on all 4 mechanisms</a:t>
            </a:r>
            <a:endParaRPr lang="en-US" sz="1400" dirty="0"/>
          </a:p>
          <a:p>
            <a:pPr marL="342900" indent="-342900">
              <a:spcAft>
                <a:spcPts val="400"/>
              </a:spcAft>
              <a:buSzPct val="100000"/>
              <a:buChar char="•"/>
            </a:pPr>
            <a:r>
              <a:rPr lang="en-US" sz="1400" dirty="0">
                <a:solidFill>
                  <a:schemeClr val="tx1"/>
                </a:solidFill>
              </a:rPr>
              <a:t>5 random seeds</a:t>
            </a:r>
            <a:endParaRPr lang="en-US" sz="1400" dirty="0"/>
          </a:p>
        </p:txBody>
      </p:sp>
      <p:sp>
        <p:nvSpPr>
          <p:cNvPr id="16" name="Design card 2"/>
          <p:cNvSpPr/>
          <p:nvPr/>
        </p:nvSpPr>
        <p:spPr>
          <a:xfrm>
            <a:off x="3246120" y="2514600"/>
            <a:ext cx="2606040" cy="2011680"/>
          </a:xfrm>
          <a:prstGeom prst="roundRect">
            <a:avLst>
              <a:gd name="adj" fmla="val 5455"/>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17" name="Design head 2"/>
          <p:cNvSpPr txBox="1"/>
          <p:nvPr/>
        </p:nvSpPr>
        <p:spPr>
          <a:xfrm>
            <a:off x="3429000" y="2606040"/>
            <a:ext cx="2240280" cy="320040"/>
          </a:xfrm>
          <a:prstGeom prst="rect">
            <a:avLst/>
          </a:prstGeom>
          <a:noFill/>
          <a:ln/>
        </p:spPr>
        <p:txBody>
          <a:bodyPr wrap="square" lIns="0" tIns="0" rIns="0" bIns="0" rtlCol="0" anchor="t"/>
          <a:lstStyle/>
          <a:p>
            <a:pPr indent="0" marL="0">
              <a:buNone/>
            </a:pPr>
            <a:r>
              <a:rPr lang="en-US" sz="1800" b="1" dirty="0">
                <a:solidFill>
                  <a:schemeClr val="tx2"/>
                </a:solidFill>
              </a:rPr>
              <a:t>Metrics</a:t>
            </a:r>
            <a:endParaRPr lang="en-US" sz="1800" dirty="0"/>
          </a:p>
        </p:txBody>
      </p:sp>
      <p:sp>
        <p:nvSpPr>
          <p:cNvPr id="18" name="Design list 2"/>
          <p:cNvSpPr txBox="1"/>
          <p:nvPr/>
        </p:nvSpPr>
        <p:spPr>
          <a:xfrm>
            <a:off x="3429000" y="3017520"/>
            <a:ext cx="224028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Recall on the hidden mechanism</a:t>
            </a:r>
            <a:endParaRPr lang="en-US" sz="1400" dirty="0"/>
          </a:p>
          <a:p>
            <a:pPr marL="342900" indent="-342900">
              <a:spcAft>
                <a:spcPts val="400"/>
              </a:spcAft>
              <a:buSzPct val="100000"/>
              <a:buChar char="•"/>
            </a:pPr>
            <a:r>
              <a:rPr lang="en-US" sz="1400" dirty="0">
                <a:solidFill>
                  <a:schemeClr val="tx1"/>
                </a:solidFill>
              </a:rPr>
              <a:t>Benign claims rejected</a:t>
            </a:r>
            <a:endParaRPr lang="en-US" sz="1400" dirty="0"/>
          </a:p>
          <a:p>
            <a:pPr marL="342900" indent="-342900">
              <a:spcAft>
                <a:spcPts val="400"/>
              </a:spcAft>
              <a:buSzPct val="100000"/>
              <a:buChar char="•"/>
            </a:pPr>
            <a:r>
              <a:rPr lang="en-US" sz="1400" dirty="0">
                <a:solidFill>
                  <a:schemeClr val="tx1"/>
                </a:solidFill>
              </a:rPr>
              <a:t>Rare-severe legitimate claims flagged</a:t>
            </a:r>
            <a:endParaRPr lang="en-US" sz="1400" dirty="0"/>
          </a:p>
        </p:txBody>
      </p:sp>
      <p:sp>
        <p:nvSpPr>
          <p:cNvPr id="19" name="Design card 3"/>
          <p:cNvSpPr/>
          <p:nvPr/>
        </p:nvSpPr>
        <p:spPr>
          <a:xfrm>
            <a:off x="6035040" y="2514600"/>
            <a:ext cx="2606040" cy="2011680"/>
          </a:xfrm>
          <a:prstGeom prst="roundRect">
            <a:avLst>
              <a:gd name="adj" fmla="val 5455"/>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20" name="Design head 3"/>
          <p:cNvSpPr txBox="1"/>
          <p:nvPr/>
        </p:nvSpPr>
        <p:spPr>
          <a:xfrm>
            <a:off x="6217920" y="2606040"/>
            <a:ext cx="2240280" cy="320040"/>
          </a:xfrm>
          <a:prstGeom prst="rect">
            <a:avLst/>
          </a:prstGeom>
          <a:noFill/>
          <a:ln/>
        </p:spPr>
        <p:txBody>
          <a:bodyPr wrap="square" lIns="0" tIns="0" rIns="0" bIns="0" rtlCol="0" anchor="t"/>
          <a:lstStyle/>
          <a:p>
            <a:pPr indent="0" marL="0">
              <a:buNone/>
            </a:pPr>
            <a:r>
              <a:rPr lang="en-US" sz="1800" b="1" dirty="0">
                <a:solidFill>
                  <a:schemeClr val="tx2"/>
                </a:solidFill>
              </a:rPr>
              <a:t>Baseline</a:t>
            </a:r>
            <a:endParaRPr lang="en-US" sz="1800" dirty="0"/>
          </a:p>
        </p:txBody>
      </p:sp>
      <p:sp>
        <p:nvSpPr>
          <p:cNvPr id="21" name="Design list 3"/>
          <p:cNvSpPr txBox="1"/>
          <p:nvPr/>
        </p:nvSpPr>
        <p:spPr>
          <a:xfrm>
            <a:off x="6217920" y="3017520"/>
            <a:ext cx="2240280" cy="141732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Isolation Forest at a matched alert count</a:t>
            </a:r>
            <a:endParaRPr lang="en-US" sz="1400" dirty="0"/>
          </a:p>
          <a:p>
            <a:pPr marL="342900" indent="-342900">
              <a:spcAft>
                <a:spcPts val="400"/>
              </a:spcAft>
              <a:buSzPct val="100000"/>
              <a:buChar char="•"/>
            </a:pPr>
            <a:r>
              <a:rPr lang="en-US" sz="1400" dirty="0">
                <a:solidFill>
                  <a:schemeClr val="tx1"/>
                </a:solidFill>
              </a:rPr>
              <a:t>More baselines planned: GNNSafe, PyGOD, CARE-GNN</a:t>
            </a:r>
            <a:endParaRPr lang="en-US" sz="1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Preliminary results</a:t>
            </a:r>
            <a:endParaRPr lang="en-US" sz="3400" dirty="0"/>
          </a:p>
        </p:txBody>
      </p:sp>
      <p:graphicFrame>
        <p:nvGraphicFramePr>
          <p:cNvPr id="4" name="Chart 0" descr=""/>
          <p:cNvGraphicFramePr/>
          <p:nvPr/>
        </p:nvGraphicFramePr>
        <p:xfrm>
          <a:off x="457200" y="1188720"/>
          <a:ext cx="5029200" cy="3200400"/>
        </p:xfrm>
        <a:graphic xmlns:a="http://schemas.openxmlformats.org/drawingml/2006/main">
          <a:graphicData uri="http://schemas.openxmlformats.org/drawingml/2006/chart">
            <c:chart xmlns:c="http://schemas.openxmlformats.org/drawingml/2006/chart" r:id="rId1"/>
          </a:graphicData>
        </a:graphic>
      </p:graphicFrame>
      <p:sp>
        <p:nvSpPr>
          <p:cNvPr id="5" name="Stat 1"/>
          <p:cNvSpPr txBox="1"/>
          <p:nvPr/>
        </p:nvSpPr>
        <p:spPr>
          <a:xfrm>
            <a:off x="5760720" y="1188720"/>
            <a:ext cx="2926080" cy="502920"/>
          </a:xfrm>
          <a:prstGeom prst="rect">
            <a:avLst/>
          </a:prstGeom>
          <a:noFill/>
          <a:ln/>
        </p:spPr>
        <p:txBody>
          <a:bodyPr wrap="square" lIns="0" tIns="0" rIns="0" bIns="0" rtlCol="0" anchor="t"/>
          <a:lstStyle/>
          <a:p>
            <a:pPr indent="0" marL="0">
              <a:buNone/>
            </a:pPr>
            <a:r>
              <a:rPr lang="en-US" sz="3000" b="1" dirty="0">
                <a:solidFill>
                  <a:srgbClr val="F26B1D"/>
                </a:solidFill>
                <a:latin typeface="Cambria" pitchFamily="34" charset="0"/>
                <a:ea typeface="Cambria" pitchFamily="34" charset="-122"/>
                <a:cs typeface="Cambria" pitchFamily="34" charset="-120"/>
              </a:rPr>
              <a:t>≈4.5%</a:t>
            </a:r>
            <a:endParaRPr lang="en-US" sz="3000" dirty="0"/>
          </a:p>
        </p:txBody>
      </p:sp>
      <p:sp>
        <p:nvSpPr>
          <p:cNvPr id="6" name="Stat label 1"/>
          <p:cNvSpPr txBox="1"/>
          <p:nvPr/>
        </p:nvSpPr>
        <p:spPr>
          <a:xfrm>
            <a:off x="5760720" y="1691640"/>
            <a:ext cx="2926080" cy="502920"/>
          </a:xfrm>
          <a:prstGeom prst="rect">
            <a:avLst/>
          </a:prstGeom>
          <a:noFill/>
          <a:ln/>
        </p:spPr>
        <p:txBody>
          <a:bodyPr wrap="square" lIns="0" tIns="0" rIns="0" bIns="0" rtlCol="0" anchor="t"/>
          <a:lstStyle/>
          <a:p>
            <a:pPr indent="0" marL="0">
              <a:buNone/>
            </a:pPr>
            <a:r>
              <a:rPr lang="en-US" sz="1400" dirty="0">
                <a:solidFill>
                  <a:schemeClr val="tx1"/>
                </a:solidFill>
              </a:rPr>
              <a:t>benign claims rejected by the conformal gate (nominal 5%)</a:t>
            </a:r>
            <a:endParaRPr lang="en-US" sz="1400" dirty="0"/>
          </a:p>
        </p:txBody>
      </p:sp>
      <p:sp>
        <p:nvSpPr>
          <p:cNvPr id="7" name="Stat 2"/>
          <p:cNvSpPr txBox="1"/>
          <p:nvPr/>
        </p:nvSpPr>
        <p:spPr>
          <a:xfrm>
            <a:off x="5760720" y="2286000"/>
            <a:ext cx="2926080" cy="502920"/>
          </a:xfrm>
          <a:prstGeom prst="rect">
            <a:avLst/>
          </a:prstGeom>
          <a:noFill/>
          <a:ln/>
        </p:spPr>
        <p:txBody>
          <a:bodyPr wrap="square" lIns="0" tIns="0" rIns="0" bIns="0" rtlCol="0" anchor="t"/>
          <a:lstStyle/>
          <a:p>
            <a:pPr indent="0" marL="0">
              <a:buNone/>
            </a:pPr>
            <a:r>
              <a:rPr lang="en-US" sz="3000" b="1" dirty="0">
                <a:solidFill>
                  <a:srgbClr val="0F766E"/>
                </a:solidFill>
                <a:latin typeface="Cambria" pitchFamily="34" charset="0"/>
                <a:ea typeface="Cambria" pitchFamily="34" charset="-122"/>
                <a:cs typeface="Cambria" pitchFamily="34" charset="-120"/>
              </a:rPr>
              <a:t>≈0.5%</a:t>
            </a:r>
            <a:endParaRPr lang="en-US" sz="3000" dirty="0"/>
          </a:p>
        </p:txBody>
      </p:sp>
      <p:sp>
        <p:nvSpPr>
          <p:cNvPr id="8" name="Stat label 2"/>
          <p:cNvSpPr txBox="1"/>
          <p:nvPr/>
        </p:nvSpPr>
        <p:spPr>
          <a:xfrm>
            <a:off x="5760720" y="2788920"/>
            <a:ext cx="2926080" cy="502920"/>
          </a:xfrm>
          <a:prstGeom prst="rect">
            <a:avLst/>
          </a:prstGeom>
          <a:noFill/>
          <a:ln/>
        </p:spPr>
        <p:txBody>
          <a:bodyPr wrap="square" lIns="0" tIns="0" rIns="0" bIns="0" rtlCol="0" anchor="t"/>
          <a:lstStyle/>
          <a:p>
            <a:pPr indent="0" marL="0">
              <a:buNone/>
            </a:pPr>
            <a:r>
              <a:rPr lang="en-US" sz="1400" dirty="0">
                <a:solidFill>
                  <a:schemeClr val="tx1"/>
                </a:solidFill>
              </a:rPr>
              <a:t>benign claims escalated after the filter</a:t>
            </a:r>
            <a:endParaRPr lang="en-US" sz="1400" dirty="0"/>
          </a:p>
        </p:txBody>
      </p:sp>
      <p:sp>
        <p:nvSpPr>
          <p:cNvPr id="9" name="Stat 3"/>
          <p:cNvSpPr txBox="1"/>
          <p:nvPr/>
        </p:nvSpPr>
        <p:spPr>
          <a:xfrm>
            <a:off x="5760720" y="3383280"/>
            <a:ext cx="2926080" cy="502920"/>
          </a:xfrm>
          <a:prstGeom prst="rect">
            <a:avLst/>
          </a:prstGeom>
          <a:noFill/>
          <a:ln/>
        </p:spPr>
        <p:txBody>
          <a:bodyPr wrap="square" lIns="0" tIns="0" rIns="0" bIns="0" rtlCol="0" anchor="t"/>
          <a:lstStyle/>
          <a:p>
            <a:pPr indent="0" marL="0">
              <a:buNone/>
            </a:pPr>
            <a:r>
              <a:rPr lang="en-US" sz="3000" b="1" dirty="0">
                <a:solidFill>
                  <a:srgbClr val="B91C1C"/>
                </a:solidFill>
                <a:latin typeface="Cambria" pitchFamily="34" charset="0"/>
                <a:ea typeface="Cambria" pitchFamily="34" charset="-122"/>
                <a:cs typeface="Cambria" pitchFamily="34" charset="-120"/>
              </a:rPr>
              <a:t>0.59 → 0.21</a:t>
            </a:r>
            <a:endParaRPr lang="en-US" sz="3000" dirty="0"/>
          </a:p>
        </p:txBody>
      </p:sp>
      <p:sp>
        <p:nvSpPr>
          <p:cNvPr id="10" name="Stat label 3"/>
          <p:cNvSpPr txBox="1"/>
          <p:nvPr/>
        </p:nvSpPr>
        <p:spPr>
          <a:xfrm>
            <a:off x="5760720" y="3886200"/>
            <a:ext cx="2926080" cy="502920"/>
          </a:xfrm>
          <a:prstGeom prst="rect">
            <a:avLst/>
          </a:prstGeom>
          <a:noFill/>
          <a:ln/>
        </p:spPr>
        <p:txBody>
          <a:bodyPr wrap="square" lIns="0" tIns="0" rIns="0" bIns="0" rtlCol="0" anchor="t"/>
          <a:lstStyle/>
          <a:p>
            <a:pPr indent="0" marL="0">
              <a:buNone/>
            </a:pPr>
            <a:r>
              <a:rPr lang="en-US" sz="1400" dirty="0">
                <a:solidFill>
                  <a:schemeClr val="tx1"/>
                </a:solidFill>
              </a:rPr>
              <a:t>recall on hidden collusion: the cost of the filter</a:t>
            </a:r>
            <a:endParaRPr lang="en-US" sz="1400" dirty="0"/>
          </a:p>
        </p:txBody>
      </p:sp>
      <p:sp>
        <p:nvSpPr>
          <p:cNvPr id="11" name="Results caption"/>
          <p:cNvSpPr txBox="1"/>
          <p:nvPr/>
        </p:nvSpPr>
        <p:spPr>
          <a:xfrm>
            <a:off x="457200" y="4480560"/>
            <a:ext cx="8138160" cy="274320"/>
          </a:xfrm>
          <a:prstGeom prst="rect">
            <a:avLst/>
          </a:prstGeom>
          <a:noFill/>
          <a:ln/>
        </p:spPr>
        <p:txBody>
          <a:bodyPr wrap="square" lIns="0" tIns="0" rIns="0" bIns="0" rtlCol="0" anchor="t"/>
          <a:lstStyle/>
          <a:p>
            <a:pPr indent="0" marL="0">
              <a:buNone/>
            </a:pPr>
            <a:r>
              <a:rPr lang="en-US" sz="1200" dirty="0">
                <a:solidFill>
                  <a:schemeClr val="accent4"/>
                </a:solidFill>
              </a:rPr>
              <a:t>Synthetic data, tabular prototype with no deep models, mean of 5 seeds.</a:t>
            </a:r>
            <a:endParaRPr lang="en-US" sz="12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Illustrative operational workflow</a:t>
            </a:r>
            <a:endParaRPr lang="en-US" sz="3400" dirty="0"/>
          </a:p>
        </p:txBody>
      </p:sp>
      <p:sp>
        <p:nvSpPr>
          <p:cNvPr id="4" name="Flow circle 1"/>
          <p:cNvSpPr/>
          <p:nvPr/>
        </p:nvSpPr>
        <p:spPr>
          <a:xfrm>
            <a:off x="457200" y="1280160"/>
            <a:ext cx="548640" cy="548640"/>
          </a:xfrm>
          <a:prstGeom prst="ellipse">
            <a:avLst/>
          </a:prstGeom>
          <a:solidFill>
            <a:schemeClr val="accent1"/>
          </a:solidFill>
          <a:ln w="12700">
            <a:solidFill>
              <a:schemeClr val="accent1"/>
            </a:solidFill>
            <a:prstDash val="solid"/>
          </a:ln>
        </p:spPr>
      </p:sp>
      <p:sp>
        <p:nvSpPr>
          <p:cNvPr id="5" name="Flow number 1"/>
          <p:cNvSpPr txBox="1"/>
          <p:nvPr/>
        </p:nvSpPr>
        <p:spPr>
          <a:xfrm>
            <a:off x="45720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1</a:t>
            </a:r>
            <a:endParaRPr lang="en-US" sz="2000" dirty="0"/>
          </a:p>
        </p:txBody>
      </p:sp>
      <p:sp>
        <p:nvSpPr>
          <p:cNvPr id="6" name="Flow arrow 1"/>
          <p:cNvSpPr/>
          <p:nvPr/>
        </p:nvSpPr>
        <p:spPr>
          <a:xfrm>
            <a:off x="1097280" y="1554480"/>
            <a:ext cx="1371600" cy="0"/>
          </a:xfrm>
          <a:prstGeom prst="line">
            <a:avLst/>
          </a:prstGeom>
          <a:noFill/>
          <a:ln w="25400">
            <a:solidFill>
              <a:srgbClr val="6B7280"/>
            </a:solidFill>
            <a:prstDash val="solid"/>
            <a:tailEnd type="triangle"/>
          </a:ln>
        </p:spPr>
      </p:sp>
      <p:sp>
        <p:nvSpPr>
          <p:cNvPr id="7" name="Flow head 1"/>
          <p:cNvSpPr txBox="1"/>
          <p:nvPr/>
        </p:nvSpPr>
        <p:spPr>
          <a:xfrm>
            <a:off x="457200" y="1965960"/>
            <a:ext cx="1920240" cy="320040"/>
          </a:xfrm>
          <a:prstGeom prst="rect">
            <a:avLst/>
          </a:prstGeom>
          <a:noFill/>
          <a:ln/>
        </p:spPr>
        <p:txBody>
          <a:bodyPr wrap="square" lIns="0" tIns="0" rIns="0" bIns="0" rtlCol="0" anchor="t"/>
          <a:lstStyle/>
          <a:p>
            <a:pPr indent="0" marL="0">
              <a:buNone/>
            </a:pPr>
            <a:r>
              <a:rPr lang="en-US" sz="1600" b="1" dirty="0">
                <a:solidFill>
                  <a:schemeClr val="tx1"/>
                </a:solidFill>
              </a:rPr>
              <a:t>Claim arrives</a:t>
            </a:r>
            <a:endParaRPr lang="en-US" sz="1600" dirty="0"/>
          </a:p>
        </p:txBody>
      </p:sp>
      <p:sp>
        <p:nvSpPr>
          <p:cNvPr id="8" name="Flow body 1"/>
          <p:cNvSpPr txBox="1"/>
          <p:nvPr/>
        </p:nvSpPr>
        <p:spPr>
          <a:xfrm>
            <a:off x="457200" y="2331720"/>
            <a:ext cx="1828800" cy="822960"/>
          </a:xfrm>
          <a:prstGeom prst="rect">
            <a:avLst/>
          </a:prstGeom>
          <a:noFill/>
          <a:ln/>
        </p:spPr>
        <p:txBody>
          <a:bodyPr wrap="square" lIns="0" tIns="0" rIns="0" bIns="0" rtlCol="0" anchor="t"/>
          <a:lstStyle/>
          <a:p>
            <a:pPr indent="0" marL="0">
              <a:buNone/>
            </a:pPr>
            <a:r>
              <a:rPr lang="en-US" sz="1400" dirty="0">
                <a:solidFill>
                  <a:schemeClr val="tx1"/>
                </a:solidFill>
              </a:rPr>
              <a:t>A hospital submits a claim to the insurer or TPA.</a:t>
            </a:r>
            <a:endParaRPr lang="en-US" sz="1400" dirty="0"/>
          </a:p>
        </p:txBody>
      </p:sp>
      <p:sp>
        <p:nvSpPr>
          <p:cNvPr id="9" name="Flow circle 2"/>
          <p:cNvSpPr/>
          <p:nvPr/>
        </p:nvSpPr>
        <p:spPr>
          <a:xfrm>
            <a:off x="2560320" y="1280160"/>
            <a:ext cx="548640" cy="548640"/>
          </a:xfrm>
          <a:prstGeom prst="ellipse">
            <a:avLst/>
          </a:prstGeom>
          <a:solidFill>
            <a:schemeClr val="accent1"/>
          </a:solidFill>
          <a:ln w="12700">
            <a:solidFill>
              <a:schemeClr val="accent1"/>
            </a:solidFill>
            <a:prstDash val="solid"/>
          </a:ln>
        </p:spPr>
      </p:sp>
      <p:sp>
        <p:nvSpPr>
          <p:cNvPr id="10" name="Flow number 2"/>
          <p:cNvSpPr txBox="1"/>
          <p:nvPr/>
        </p:nvSpPr>
        <p:spPr>
          <a:xfrm>
            <a:off x="256032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2</a:t>
            </a:r>
            <a:endParaRPr lang="en-US" sz="2000" dirty="0"/>
          </a:p>
        </p:txBody>
      </p:sp>
      <p:sp>
        <p:nvSpPr>
          <p:cNvPr id="11" name="Flow arrow 2"/>
          <p:cNvSpPr/>
          <p:nvPr/>
        </p:nvSpPr>
        <p:spPr>
          <a:xfrm>
            <a:off x="3200400" y="1554480"/>
            <a:ext cx="1371600" cy="0"/>
          </a:xfrm>
          <a:prstGeom prst="line">
            <a:avLst/>
          </a:prstGeom>
          <a:noFill/>
          <a:ln w="25400">
            <a:solidFill>
              <a:srgbClr val="6B7280"/>
            </a:solidFill>
            <a:prstDash val="solid"/>
            <a:tailEnd type="triangle"/>
          </a:ln>
        </p:spPr>
      </p:sp>
      <p:sp>
        <p:nvSpPr>
          <p:cNvPr id="12" name="Flow head 2"/>
          <p:cNvSpPr txBox="1"/>
          <p:nvPr/>
        </p:nvSpPr>
        <p:spPr>
          <a:xfrm>
            <a:off x="2560320" y="1965960"/>
            <a:ext cx="1920240" cy="320040"/>
          </a:xfrm>
          <a:prstGeom prst="rect">
            <a:avLst/>
          </a:prstGeom>
          <a:noFill/>
          <a:ln/>
        </p:spPr>
        <p:txBody>
          <a:bodyPr wrap="square" lIns="0" tIns="0" rIns="0" bIns="0" rtlCol="0" anchor="t"/>
          <a:lstStyle/>
          <a:p>
            <a:pPr indent="0" marL="0">
              <a:buNone/>
            </a:pPr>
            <a:r>
              <a:rPr lang="en-US" sz="1600" b="1" dirty="0">
                <a:solidFill>
                  <a:schemeClr val="tx1"/>
                </a:solidFill>
              </a:rPr>
              <a:t>Scored instantly</a:t>
            </a:r>
            <a:endParaRPr lang="en-US" sz="1600" dirty="0"/>
          </a:p>
        </p:txBody>
      </p:sp>
      <p:sp>
        <p:nvSpPr>
          <p:cNvPr id="13" name="Flow body 2"/>
          <p:cNvSpPr txBox="1"/>
          <p:nvPr/>
        </p:nvSpPr>
        <p:spPr>
          <a:xfrm>
            <a:off x="2560320" y="2331720"/>
            <a:ext cx="1828800" cy="822960"/>
          </a:xfrm>
          <a:prstGeom prst="rect">
            <a:avLst/>
          </a:prstGeom>
          <a:noFill/>
          <a:ln/>
        </p:spPr>
        <p:txBody>
          <a:bodyPr wrap="square" lIns="0" tIns="0" rIns="0" bIns="0" rtlCol="0" anchor="t"/>
          <a:lstStyle/>
          <a:p>
            <a:pPr indent="0" marL="0">
              <a:buNone/>
            </a:pPr>
            <a:r>
              <a:rPr lang="en-US" sz="1400" dirty="0">
                <a:solidFill>
                  <a:schemeClr val="tx1"/>
                </a:solidFill>
              </a:rPr>
              <a:t>Graph updated using only edges before the claim time.</a:t>
            </a:r>
            <a:endParaRPr lang="en-US" sz="1400" dirty="0"/>
          </a:p>
        </p:txBody>
      </p:sp>
      <p:sp>
        <p:nvSpPr>
          <p:cNvPr id="14" name="Flow circle 3"/>
          <p:cNvSpPr/>
          <p:nvPr/>
        </p:nvSpPr>
        <p:spPr>
          <a:xfrm>
            <a:off x="4663440" y="1280160"/>
            <a:ext cx="548640" cy="548640"/>
          </a:xfrm>
          <a:prstGeom prst="ellipse">
            <a:avLst/>
          </a:prstGeom>
          <a:solidFill>
            <a:schemeClr val="accent1"/>
          </a:solidFill>
          <a:ln w="12700">
            <a:solidFill>
              <a:schemeClr val="accent1"/>
            </a:solidFill>
            <a:prstDash val="solid"/>
          </a:ln>
        </p:spPr>
      </p:sp>
      <p:sp>
        <p:nvSpPr>
          <p:cNvPr id="15" name="Flow number 3"/>
          <p:cNvSpPr txBox="1"/>
          <p:nvPr/>
        </p:nvSpPr>
        <p:spPr>
          <a:xfrm>
            <a:off x="466344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3</a:t>
            </a:r>
            <a:endParaRPr lang="en-US" sz="2000" dirty="0"/>
          </a:p>
        </p:txBody>
      </p:sp>
      <p:sp>
        <p:nvSpPr>
          <p:cNvPr id="16" name="Flow arrow 3"/>
          <p:cNvSpPr/>
          <p:nvPr/>
        </p:nvSpPr>
        <p:spPr>
          <a:xfrm>
            <a:off x="5303520" y="1554480"/>
            <a:ext cx="1371600" cy="0"/>
          </a:xfrm>
          <a:prstGeom prst="line">
            <a:avLst/>
          </a:prstGeom>
          <a:noFill/>
          <a:ln w="25400">
            <a:solidFill>
              <a:srgbClr val="6B7280"/>
            </a:solidFill>
            <a:prstDash val="solid"/>
            <a:tailEnd type="triangle"/>
          </a:ln>
        </p:spPr>
      </p:sp>
      <p:sp>
        <p:nvSpPr>
          <p:cNvPr id="17" name="Flow head 3"/>
          <p:cNvSpPr txBox="1"/>
          <p:nvPr/>
        </p:nvSpPr>
        <p:spPr>
          <a:xfrm>
            <a:off x="4663440" y="1965960"/>
            <a:ext cx="1920240" cy="320040"/>
          </a:xfrm>
          <a:prstGeom prst="rect">
            <a:avLst/>
          </a:prstGeom>
          <a:noFill/>
          <a:ln/>
        </p:spPr>
        <p:txBody>
          <a:bodyPr wrap="square" lIns="0" tIns="0" rIns="0" bIns="0" rtlCol="0" anchor="t"/>
          <a:lstStyle/>
          <a:p>
            <a:pPr indent="0" marL="0">
              <a:buNone/>
            </a:pPr>
            <a:r>
              <a:rPr lang="en-US" sz="1600" b="1" dirty="0">
                <a:solidFill>
                  <a:schemeClr val="tx1"/>
                </a:solidFill>
              </a:rPr>
              <a:t>Routed</a:t>
            </a:r>
            <a:endParaRPr lang="en-US" sz="1600" dirty="0"/>
          </a:p>
        </p:txBody>
      </p:sp>
      <p:sp>
        <p:nvSpPr>
          <p:cNvPr id="18" name="Flow body 3"/>
          <p:cNvSpPr txBox="1"/>
          <p:nvPr/>
        </p:nvSpPr>
        <p:spPr>
          <a:xfrm>
            <a:off x="4663440" y="2331720"/>
            <a:ext cx="1828800" cy="822960"/>
          </a:xfrm>
          <a:prstGeom prst="rect">
            <a:avLst/>
          </a:prstGeom>
          <a:noFill/>
          <a:ln/>
        </p:spPr>
        <p:txBody>
          <a:bodyPr wrap="square" lIns="0" tIns="0" rIns="0" bIns="0" rtlCol="0" anchor="t"/>
          <a:lstStyle/>
          <a:p>
            <a:pPr indent="0" marL="0">
              <a:buNone/>
            </a:pPr>
            <a:r>
              <a:rPr lang="en-US" sz="1400" dirty="0">
                <a:solidFill>
                  <a:schemeClr val="tx1"/>
                </a:solidFill>
              </a:rPr>
              <a:t>Familiar, rare but explained, or unexplained?</a:t>
            </a:r>
            <a:endParaRPr lang="en-US" sz="1400" dirty="0"/>
          </a:p>
        </p:txBody>
      </p:sp>
      <p:sp>
        <p:nvSpPr>
          <p:cNvPr id="19" name="Flow circle 4"/>
          <p:cNvSpPr/>
          <p:nvPr/>
        </p:nvSpPr>
        <p:spPr>
          <a:xfrm>
            <a:off x="6766560" y="1280160"/>
            <a:ext cx="548640" cy="548640"/>
          </a:xfrm>
          <a:prstGeom prst="ellipse">
            <a:avLst/>
          </a:prstGeom>
          <a:solidFill>
            <a:schemeClr val="accent1"/>
          </a:solidFill>
          <a:ln w="12700">
            <a:solidFill>
              <a:schemeClr val="accent1"/>
            </a:solidFill>
            <a:prstDash val="solid"/>
          </a:ln>
        </p:spPr>
      </p:sp>
      <p:sp>
        <p:nvSpPr>
          <p:cNvPr id="20" name="Flow number 4"/>
          <p:cNvSpPr txBox="1"/>
          <p:nvPr/>
        </p:nvSpPr>
        <p:spPr>
          <a:xfrm>
            <a:off x="6766560" y="1280160"/>
            <a:ext cx="548640" cy="548640"/>
          </a:xfrm>
          <a:prstGeom prst="rect">
            <a:avLst/>
          </a:prstGeom>
          <a:noFill/>
          <a:ln/>
        </p:spPr>
        <p:txBody>
          <a:bodyPr wrap="square" lIns="0" tIns="0" rIns="0" bIns="0" rtlCol="0" anchor="ctr"/>
          <a:lstStyle/>
          <a:p>
            <a:pPr algn="ctr" indent="0" marL="0">
              <a:buNone/>
            </a:pPr>
            <a:r>
              <a:rPr lang="en-US" sz="2000" b="1" dirty="0">
                <a:solidFill>
                  <a:srgbClr val="FFFFFF"/>
                </a:solidFill>
              </a:rPr>
              <a:t>4</a:t>
            </a:r>
            <a:endParaRPr lang="en-US" sz="2000" dirty="0"/>
          </a:p>
        </p:txBody>
      </p:sp>
      <p:sp>
        <p:nvSpPr>
          <p:cNvPr id="21" name="Flow head 4"/>
          <p:cNvSpPr txBox="1"/>
          <p:nvPr/>
        </p:nvSpPr>
        <p:spPr>
          <a:xfrm>
            <a:off x="6766560" y="1965960"/>
            <a:ext cx="1920240" cy="320040"/>
          </a:xfrm>
          <a:prstGeom prst="rect">
            <a:avLst/>
          </a:prstGeom>
          <a:noFill/>
          <a:ln/>
        </p:spPr>
        <p:txBody>
          <a:bodyPr wrap="square" lIns="0" tIns="0" rIns="0" bIns="0" rtlCol="0" anchor="t"/>
          <a:lstStyle/>
          <a:p>
            <a:pPr indent="0" marL="0">
              <a:buNone/>
            </a:pPr>
            <a:r>
              <a:rPr lang="en-US" sz="1600" b="1" dirty="0">
                <a:solidFill>
                  <a:schemeClr val="tx1"/>
                </a:solidFill>
              </a:rPr>
              <a:t>Auditor decides</a:t>
            </a:r>
            <a:endParaRPr lang="en-US" sz="1600" dirty="0"/>
          </a:p>
        </p:txBody>
      </p:sp>
      <p:sp>
        <p:nvSpPr>
          <p:cNvPr id="22" name="Flow body 4"/>
          <p:cNvSpPr txBox="1"/>
          <p:nvPr/>
        </p:nvSpPr>
        <p:spPr>
          <a:xfrm>
            <a:off x="6766560" y="2331720"/>
            <a:ext cx="1828800" cy="822960"/>
          </a:xfrm>
          <a:prstGeom prst="rect">
            <a:avLst/>
          </a:prstGeom>
          <a:noFill/>
          <a:ln/>
        </p:spPr>
        <p:txBody>
          <a:bodyPr wrap="square" lIns="0" tIns="0" rIns="0" bIns="0" rtlCol="0" anchor="t"/>
          <a:lstStyle/>
          <a:p>
            <a:pPr indent="0" marL="0">
              <a:buNone/>
            </a:pPr>
            <a:r>
              <a:rPr lang="en-US" sz="1400" dirty="0">
                <a:solidFill>
                  <a:schemeClr val="tx1"/>
                </a:solidFill>
              </a:rPr>
              <a:t>Outcomes feed the next calibration window.</a:t>
            </a:r>
            <a:endParaRPr lang="en-US" sz="1400" dirty="0"/>
          </a:p>
        </p:txBody>
      </p:sp>
      <p:sp>
        <p:nvSpPr>
          <p:cNvPr id="23" name="Lane 1"/>
          <p:cNvSpPr/>
          <p:nvPr/>
        </p:nvSpPr>
        <p:spPr>
          <a:xfrm>
            <a:off x="457200" y="3337560"/>
            <a:ext cx="2606040" cy="640080"/>
          </a:xfrm>
          <a:prstGeom prst="roundRect">
            <a:avLst>
              <a:gd name="adj" fmla="val 17143"/>
            </a:avLst>
          </a:prstGeom>
          <a:solidFill>
            <a:srgbClr val="E5E7EB"/>
          </a:solidFill>
          <a:ln w="12700">
            <a:solidFill>
              <a:srgbClr val="E5E7EB"/>
            </a:solidFill>
            <a:prstDash val="solid"/>
          </a:ln>
        </p:spPr>
      </p:sp>
      <p:sp>
        <p:nvSpPr>
          <p:cNvPr id="24" name="Lane text 1"/>
          <p:cNvSpPr txBox="1"/>
          <p:nvPr/>
        </p:nvSpPr>
        <p:spPr>
          <a:xfrm>
            <a:off x="457200" y="3337560"/>
            <a:ext cx="2606040" cy="640080"/>
          </a:xfrm>
          <a:prstGeom prst="rect">
            <a:avLst/>
          </a:prstGeom>
          <a:noFill/>
          <a:ln/>
        </p:spPr>
        <p:txBody>
          <a:bodyPr wrap="square" lIns="0" tIns="0" rIns="0" bIns="0" rtlCol="0" anchor="ctr"/>
          <a:lstStyle/>
          <a:p>
            <a:pPr algn="ctr" indent="0" marL="0">
              <a:buNone/>
            </a:pPr>
            <a:r>
              <a:rPr lang="en-US" sz="1600" b="1" dirty="0">
                <a:solidFill>
                  <a:srgbClr val="1F2937"/>
                </a:solidFill>
              </a:rPr>
              <a:t>Fast-track</a:t>
            </a:r>
            <a:endParaRPr lang="en-US" sz="1600" dirty="0"/>
          </a:p>
        </p:txBody>
      </p:sp>
      <p:sp>
        <p:nvSpPr>
          <p:cNvPr id="25" name="Lane 2"/>
          <p:cNvSpPr/>
          <p:nvPr/>
        </p:nvSpPr>
        <p:spPr>
          <a:xfrm>
            <a:off x="3246120" y="3337560"/>
            <a:ext cx="2606040" cy="640080"/>
          </a:xfrm>
          <a:prstGeom prst="roundRect">
            <a:avLst>
              <a:gd name="adj" fmla="val 17143"/>
            </a:avLst>
          </a:prstGeom>
          <a:solidFill>
            <a:srgbClr val="0F766E"/>
          </a:solidFill>
          <a:ln w="12700">
            <a:solidFill>
              <a:srgbClr val="0F766E"/>
            </a:solidFill>
            <a:prstDash val="solid"/>
          </a:ln>
        </p:spPr>
      </p:sp>
      <p:sp>
        <p:nvSpPr>
          <p:cNvPr id="26" name="Lane text 2"/>
          <p:cNvSpPr txBox="1"/>
          <p:nvPr/>
        </p:nvSpPr>
        <p:spPr>
          <a:xfrm>
            <a:off x="3246120" y="3337560"/>
            <a:ext cx="2606040" cy="640080"/>
          </a:xfrm>
          <a:prstGeom prst="rect">
            <a:avLst/>
          </a:prstGeom>
          <a:noFill/>
          <a:ln/>
        </p:spPr>
        <p:txBody>
          <a:bodyPr wrap="square" lIns="0" tIns="0" rIns="0" bIns="0" rtlCol="0" anchor="ctr"/>
          <a:lstStyle/>
          <a:p>
            <a:pPr algn="ctr" indent="0" marL="0">
              <a:buNone/>
            </a:pPr>
            <a:r>
              <a:rPr lang="en-US" sz="1600" b="1" dirty="0">
                <a:solidFill>
                  <a:srgbClr val="FFFFFF"/>
                </a:solidFill>
              </a:rPr>
              <a:t>Settle with a note</a:t>
            </a:r>
            <a:endParaRPr lang="en-US" sz="1600" dirty="0"/>
          </a:p>
        </p:txBody>
      </p:sp>
      <p:sp>
        <p:nvSpPr>
          <p:cNvPr id="27" name="Lane 3"/>
          <p:cNvSpPr/>
          <p:nvPr/>
        </p:nvSpPr>
        <p:spPr>
          <a:xfrm>
            <a:off x="6035040" y="3337560"/>
            <a:ext cx="2606040" cy="640080"/>
          </a:xfrm>
          <a:prstGeom prst="roundRect">
            <a:avLst>
              <a:gd name="adj" fmla="val 17143"/>
            </a:avLst>
          </a:prstGeom>
          <a:solidFill>
            <a:srgbClr val="F26B1D"/>
          </a:solidFill>
          <a:ln w="12700">
            <a:solidFill>
              <a:srgbClr val="F26B1D"/>
            </a:solidFill>
            <a:prstDash val="solid"/>
          </a:ln>
        </p:spPr>
      </p:sp>
      <p:sp>
        <p:nvSpPr>
          <p:cNvPr id="28" name="Lane text 3"/>
          <p:cNvSpPr txBox="1"/>
          <p:nvPr/>
        </p:nvSpPr>
        <p:spPr>
          <a:xfrm>
            <a:off x="6035040" y="3337560"/>
            <a:ext cx="2606040" cy="640080"/>
          </a:xfrm>
          <a:prstGeom prst="rect">
            <a:avLst/>
          </a:prstGeom>
          <a:noFill/>
          <a:ln/>
        </p:spPr>
        <p:txBody>
          <a:bodyPr wrap="square" lIns="0" tIns="0" rIns="0" bIns="0" rtlCol="0" anchor="ctr"/>
          <a:lstStyle/>
          <a:p>
            <a:pPr algn="ctr" indent="0" marL="0">
              <a:buNone/>
            </a:pPr>
            <a:r>
              <a:rPr lang="en-US" sz="1600" b="1" dirty="0">
                <a:solidFill>
                  <a:srgbClr val="FFFFFF"/>
                </a:solidFill>
              </a:rPr>
              <a:t>Escalate + cluster card</a:t>
            </a:r>
            <a:endParaRPr lang="en-US" sz="1600" dirty="0"/>
          </a:p>
        </p:txBody>
      </p:sp>
      <p:sp>
        <p:nvSpPr>
          <p:cNvPr id="29" name="Human in loop note"/>
          <p:cNvSpPr txBox="1"/>
          <p:nvPr/>
        </p:nvSpPr>
        <p:spPr>
          <a:xfrm>
            <a:off x="457200" y="4251960"/>
            <a:ext cx="8138160" cy="365760"/>
          </a:xfrm>
          <a:prstGeom prst="rect">
            <a:avLst/>
          </a:prstGeom>
          <a:noFill/>
          <a:ln/>
        </p:spPr>
        <p:txBody>
          <a:bodyPr wrap="square" lIns="0" tIns="0" rIns="0" bIns="0" rtlCol="0" anchor="t"/>
          <a:lstStyle/>
          <a:p>
            <a:pPr indent="0" marL="0">
              <a:buNone/>
            </a:pPr>
            <a:r>
              <a:rPr lang="en-US" sz="1400" b="1" dirty="0">
                <a:solidFill>
                  <a:schemeClr val="tx2"/>
                </a:solidFill>
              </a:rPr>
              <a:t>Decision support only: a human auditor makes the final call. Nothing is denied automatically.</a:t>
            </a:r>
            <a:endParaRPr lang="en-US" sz="1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What the auditor sees</a:t>
            </a:r>
            <a:endParaRPr lang="en-US" sz="3400" dirty="0"/>
          </a:p>
        </p:txBody>
      </p:sp>
      <p:sp>
        <p:nvSpPr>
          <p:cNvPr id="4" name="Mock card"/>
          <p:cNvSpPr/>
          <p:nvPr/>
        </p:nvSpPr>
        <p:spPr>
          <a:xfrm>
            <a:off x="457200" y="1234440"/>
            <a:ext cx="5212080" cy="3200400"/>
          </a:xfrm>
          <a:prstGeom prst="roundRect">
            <a:avLst>
              <a:gd name="adj" fmla="val 3429"/>
            </a:avLst>
          </a:prstGeom>
          <a:solidFill>
            <a:srgbClr val="FFFFFF"/>
          </a:solidFill>
          <a:ln w="12700">
            <a:solidFill>
              <a:srgbClr val="FFFFFF"/>
            </a:solidFill>
            <a:prstDash val="solid"/>
          </a:ln>
          <a:effectLst>
            <a:outerShdw sx="100000" sy="100000" kx="0" ky="0" algn="bl" rotWithShape="0" blurRad="76200" dist="25400" dir="5400000">
              <a:srgbClr val="000000">
                <a:alpha val="12000"/>
              </a:srgbClr>
            </a:outerShdw>
          </a:effectLst>
        </p:spPr>
      </p:sp>
      <p:sp>
        <p:nvSpPr>
          <p:cNvPr id="5" name="Mock card outline"/>
          <p:cNvSpPr/>
          <p:nvPr/>
        </p:nvSpPr>
        <p:spPr>
          <a:xfrm>
            <a:off x="457200" y="1234440"/>
            <a:ext cx="5212080" cy="3200400"/>
          </a:xfrm>
          <a:prstGeom prst="roundRect">
            <a:avLst>
              <a:gd name="adj" fmla="val 3429"/>
            </a:avLst>
          </a:prstGeom>
          <a:solidFill>
            <a:srgbClr val="FFFFFF">
              <a:alpha val="0"/>
            </a:srgbClr>
          </a:solidFill>
          <a:ln w="19050">
            <a:solidFill>
              <a:srgbClr val="F26B1D"/>
            </a:solidFill>
            <a:prstDash val="solid"/>
          </a:ln>
        </p:spPr>
      </p:sp>
      <p:sp>
        <p:nvSpPr>
          <p:cNvPr id="6" name="Mock title"/>
          <p:cNvSpPr txBox="1"/>
          <p:nvPr/>
        </p:nvSpPr>
        <p:spPr>
          <a:xfrm>
            <a:off x="685800" y="1371600"/>
            <a:ext cx="3200400" cy="365760"/>
          </a:xfrm>
          <a:prstGeom prst="rect">
            <a:avLst/>
          </a:prstGeom>
          <a:noFill/>
          <a:ln/>
        </p:spPr>
        <p:txBody>
          <a:bodyPr wrap="square" lIns="0" tIns="0" rIns="0" bIns="0" rtlCol="0" anchor="t"/>
          <a:lstStyle/>
          <a:p>
            <a:pPr indent="0" marL="0">
              <a:buNone/>
            </a:pPr>
            <a:r>
              <a:rPr lang="en-US" sz="2000" b="1" dirty="0">
                <a:solidFill>
                  <a:schemeClr val="tx1"/>
                </a:solidFill>
              </a:rPr>
              <a:t>Cluster card #07</a:t>
            </a:r>
            <a:endParaRPr lang="en-US" sz="2000" dirty="0"/>
          </a:p>
        </p:txBody>
      </p:sp>
      <p:sp>
        <p:nvSpPr>
          <p:cNvPr id="7" name="Illustrative tag"/>
          <p:cNvSpPr/>
          <p:nvPr/>
        </p:nvSpPr>
        <p:spPr>
          <a:xfrm>
            <a:off x="4160520" y="1371600"/>
            <a:ext cx="1325880" cy="320040"/>
          </a:xfrm>
          <a:prstGeom prst="roundRect">
            <a:avLst>
              <a:gd name="adj" fmla="val 34286"/>
            </a:avLst>
          </a:prstGeom>
          <a:solidFill>
            <a:srgbClr val="FFF3E8"/>
          </a:solidFill>
          <a:ln w="12700">
            <a:solidFill>
              <a:srgbClr val="FFF3E8"/>
            </a:solidFill>
            <a:prstDash val="solid"/>
          </a:ln>
        </p:spPr>
      </p:sp>
      <p:sp>
        <p:nvSpPr>
          <p:cNvPr id="8" name="Illustrative tag text"/>
          <p:cNvSpPr txBox="1"/>
          <p:nvPr/>
        </p:nvSpPr>
        <p:spPr>
          <a:xfrm>
            <a:off x="4160520" y="1371600"/>
            <a:ext cx="1325880" cy="320040"/>
          </a:xfrm>
          <a:prstGeom prst="rect">
            <a:avLst/>
          </a:prstGeom>
          <a:noFill/>
          <a:ln/>
        </p:spPr>
        <p:txBody>
          <a:bodyPr wrap="square" lIns="0" tIns="0" rIns="0" bIns="0" rtlCol="0" anchor="ctr"/>
          <a:lstStyle/>
          <a:p>
            <a:pPr algn="ctr" indent="0" marL="0">
              <a:buNone/>
            </a:pPr>
            <a:r>
              <a:rPr lang="en-US" sz="1200" b="1" dirty="0">
                <a:solidFill>
                  <a:schemeClr val="tx2"/>
                </a:solidFill>
              </a:rPr>
              <a:t>ILLUSTRATIVE</a:t>
            </a:r>
            <a:endParaRPr lang="en-US" sz="1200" dirty="0"/>
          </a:p>
        </p:txBody>
      </p:sp>
      <p:sp>
        <p:nvSpPr>
          <p:cNvPr id="9" name="Mock key 1"/>
          <p:cNvSpPr txBox="1"/>
          <p:nvPr/>
        </p:nvSpPr>
        <p:spPr>
          <a:xfrm>
            <a:off x="685800" y="1874520"/>
            <a:ext cx="1920240" cy="365760"/>
          </a:xfrm>
          <a:prstGeom prst="rect">
            <a:avLst/>
          </a:prstGeom>
          <a:noFill/>
          <a:ln/>
        </p:spPr>
        <p:txBody>
          <a:bodyPr wrap="square" lIns="0" tIns="0" rIns="0" bIns="0" rtlCol="0" anchor="t"/>
          <a:lstStyle/>
          <a:p>
            <a:pPr indent="0" marL="0">
              <a:buNone/>
            </a:pPr>
            <a:r>
              <a:rPr lang="en-US" sz="1400" b="1" dirty="0">
                <a:solidFill>
                  <a:schemeClr val="accent4"/>
                </a:solidFill>
              </a:rPr>
              <a:t>Claims in cluster</a:t>
            </a:r>
            <a:endParaRPr lang="en-US" sz="1400" dirty="0"/>
          </a:p>
        </p:txBody>
      </p:sp>
      <p:sp>
        <p:nvSpPr>
          <p:cNvPr id="10" name="Mock value 1"/>
          <p:cNvSpPr txBox="1"/>
          <p:nvPr/>
        </p:nvSpPr>
        <p:spPr>
          <a:xfrm>
            <a:off x="2651760" y="1874520"/>
            <a:ext cx="2926080" cy="365760"/>
          </a:xfrm>
          <a:prstGeom prst="rect">
            <a:avLst/>
          </a:prstGeom>
          <a:noFill/>
          <a:ln/>
        </p:spPr>
        <p:txBody>
          <a:bodyPr wrap="square" lIns="0" tIns="0" rIns="0" bIns="0" rtlCol="0" anchor="t"/>
          <a:lstStyle/>
          <a:p>
            <a:pPr indent="0" marL="0">
              <a:buNone/>
            </a:pPr>
            <a:r>
              <a:rPr lang="en-US" sz="1400" dirty="0">
                <a:solidFill>
                  <a:schemeClr val="tx1"/>
                </a:solidFill>
              </a:rPr>
              <a:t>23</a:t>
            </a:r>
            <a:endParaRPr lang="en-US" sz="1400" dirty="0"/>
          </a:p>
        </p:txBody>
      </p:sp>
      <p:sp>
        <p:nvSpPr>
          <p:cNvPr id="11" name="Mock key 2"/>
          <p:cNvSpPr txBox="1"/>
          <p:nvPr/>
        </p:nvSpPr>
        <p:spPr>
          <a:xfrm>
            <a:off x="685800" y="2286000"/>
            <a:ext cx="1920240" cy="365760"/>
          </a:xfrm>
          <a:prstGeom prst="rect">
            <a:avLst/>
          </a:prstGeom>
          <a:noFill/>
          <a:ln/>
        </p:spPr>
        <p:txBody>
          <a:bodyPr wrap="square" lIns="0" tIns="0" rIns="0" bIns="0" rtlCol="0" anchor="t"/>
          <a:lstStyle/>
          <a:p>
            <a:pPr indent="0" marL="0">
              <a:buNone/>
            </a:pPr>
            <a:r>
              <a:rPr lang="en-US" sz="1400" b="1" dirty="0">
                <a:solidFill>
                  <a:schemeClr val="accent4"/>
                </a:solidFill>
              </a:rPr>
              <a:t>Time span</a:t>
            </a:r>
            <a:endParaRPr lang="en-US" sz="1400" dirty="0"/>
          </a:p>
        </p:txBody>
      </p:sp>
      <p:sp>
        <p:nvSpPr>
          <p:cNvPr id="12" name="Mock value 2"/>
          <p:cNvSpPr txBox="1"/>
          <p:nvPr/>
        </p:nvSpPr>
        <p:spPr>
          <a:xfrm>
            <a:off x="2651760" y="2286000"/>
            <a:ext cx="2926080" cy="365760"/>
          </a:xfrm>
          <a:prstGeom prst="rect">
            <a:avLst/>
          </a:prstGeom>
          <a:noFill/>
          <a:ln/>
        </p:spPr>
        <p:txBody>
          <a:bodyPr wrap="square" lIns="0" tIns="0" rIns="0" bIns="0" rtlCol="0" anchor="t"/>
          <a:lstStyle/>
          <a:p>
            <a:pPr indent="0" marL="0">
              <a:buNone/>
            </a:pPr>
            <a:r>
              <a:rPr lang="en-US" sz="1400" dirty="0">
                <a:solidFill>
                  <a:schemeClr val="tx1"/>
                </a:solidFill>
              </a:rPr>
              <a:t>3 weeks</a:t>
            </a:r>
            <a:endParaRPr lang="en-US" sz="1400" dirty="0"/>
          </a:p>
        </p:txBody>
      </p:sp>
      <p:sp>
        <p:nvSpPr>
          <p:cNvPr id="13" name="Mock key 3"/>
          <p:cNvSpPr txBox="1"/>
          <p:nvPr/>
        </p:nvSpPr>
        <p:spPr>
          <a:xfrm>
            <a:off x="685800" y="2697480"/>
            <a:ext cx="1920240" cy="365760"/>
          </a:xfrm>
          <a:prstGeom prst="rect">
            <a:avLst/>
          </a:prstGeom>
          <a:noFill/>
          <a:ln/>
        </p:spPr>
        <p:txBody>
          <a:bodyPr wrap="square" lIns="0" tIns="0" rIns="0" bIns="0" rtlCol="0" anchor="t"/>
          <a:lstStyle/>
          <a:p>
            <a:pPr indent="0" marL="0">
              <a:buNone/>
            </a:pPr>
            <a:r>
              <a:rPr lang="en-US" sz="1400" b="1" dirty="0">
                <a:solidFill>
                  <a:schemeClr val="accent4"/>
                </a:solidFill>
              </a:rPr>
              <a:t>Provider concentration</a:t>
            </a:r>
            <a:endParaRPr lang="en-US" sz="1400" dirty="0"/>
          </a:p>
        </p:txBody>
      </p:sp>
      <p:sp>
        <p:nvSpPr>
          <p:cNvPr id="14" name="Mock value 3"/>
          <p:cNvSpPr txBox="1"/>
          <p:nvPr/>
        </p:nvSpPr>
        <p:spPr>
          <a:xfrm>
            <a:off x="2651760" y="2697480"/>
            <a:ext cx="2926080" cy="365760"/>
          </a:xfrm>
          <a:prstGeom prst="rect">
            <a:avLst/>
          </a:prstGeom>
          <a:noFill/>
          <a:ln/>
        </p:spPr>
        <p:txBody>
          <a:bodyPr wrap="square" lIns="0" tIns="0" rIns="0" bIns="0" rtlCol="0" anchor="t"/>
          <a:lstStyle/>
          <a:p>
            <a:pPr indent="0" marL="0">
              <a:buNone/>
            </a:pPr>
            <a:r>
              <a:rPr lang="en-US" sz="1400" dirty="0">
                <a:solidFill>
                  <a:schemeClr val="tx1"/>
                </a:solidFill>
              </a:rPr>
              <a:t>2 hospitals, 1 doctor</a:t>
            </a:r>
            <a:endParaRPr lang="en-US" sz="1400" dirty="0"/>
          </a:p>
        </p:txBody>
      </p:sp>
      <p:sp>
        <p:nvSpPr>
          <p:cNvPr id="15" name="Mock key 4"/>
          <p:cNvSpPr txBox="1"/>
          <p:nvPr/>
        </p:nvSpPr>
        <p:spPr>
          <a:xfrm>
            <a:off x="685800" y="3108960"/>
            <a:ext cx="1920240" cy="365760"/>
          </a:xfrm>
          <a:prstGeom prst="rect">
            <a:avLst/>
          </a:prstGeom>
          <a:noFill/>
          <a:ln/>
        </p:spPr>
        <p:txBody>
          <a:bodyPr wrap="square" lIns="0" tIns="0" rIns="0" bIns="0" rtlCol="0" anchor="t"/>
          <a:lstStyle/>
          <a:p>
            <a:pPr indent="0" marL="0">
              <a:buNone/>
            </a:pPr>
            <a:r>
              <a:rPr lang="en-US" sz="1400" b="1" dirty="0">
                <a:solidFill>
                  <a:schemeClr val="accent4"/>
                </a:solidFill>
              </a:rPr>
              <a:t>Deviating signals</a:t>
            </a:r>
            <a:endParaRPr lang="en-US" sz="1400" dirty="0"/>
          </a:p>
        </p:txBody>
      </p:sp>
      <p:sp>
        <p:nvSpPr>
          <p:cNvPr id="16" name="Mock value 4"/>
          <p:cNvSpPr txBox="1"/>
          <p:nvPr/>
        </p:nvSpPr>
        <p:spPr>
          <a:xfrm>
            <a:off x="2651760" y="3108960"/>
            <a:ext cx="2926080" cy="365760"/>
          </a:xfrm>
          <a:prstGeom prst="rect">
            <a:avLst/>
          </a:prstGeom>
          <a:noFill/>
          <a:ln/>
        </p:spPr>
        <p:txBody>
          <a:bodyPr wrap="square" lIns="0" tIns="0" rIns="0" bIns="0" rtlCol="0" anchor="t"/>
          <a:lstStyle/>
          <a:p>
            <a:pPr indent="0" marL="0">
              <a:buNone/>
            </a:pPr>
            <a:r>
              <a:rPr lang="en-US" sz="1400" dirty="0">
                <a:solidFill>
                  <a:schemeClr val="tx1"/>
                </a:solidFill>
              </a:rPr>
              <a:t>amount above expected, stay below</a:t>
            </a:r>
            <a:endParaRPr lang="en-US" sz="1400" dirty="0"/>
          </a:p>
        </p:txBody>
      </p:sp>
      <p:sp>
        <p:nvSpPr>
          <p:cNvPr id="17" name="Mock key 5"/>
          <p:cNvSpPr txBox="1"/>
          <p:nvPr/>
        </p:nvSpPr>
        <p:spPr>
          <a:xfrm>
            <a:off x="685800" y="3520440"/>
            <a:ext cx="1920240" cy="365760"/>
          </a:xfrm>
          <a:prstGeom prst="rect">
            <a:avLst/>
          </a:prstGeom>
          <a:noFill/>
          <a:ln/>
        </p:spPr>
        <p:txBody>
          <a:bodyPr wrap="square" lIns="0" tIns="0" rIns="0" bIns="0" rtlCol="0" anchor="t"/>
          <a:lstStyle/>
          <a:p>
            <a:pPr indent="0" marL="0">
              <a:buNone/>
            </a:pPr>
            <a:r>
              <a:rPr lang="en-US" sz="1400" b="1" dirty="0">
                <a:solidFill>
                  <a:schemeClr val="accent4"/>
                </a:solidFill>
              </a:rPr>
              <a:t>Triage hypothesis</a:t>
            </a:r>
            <a:endParaRPr lang="en-US" sz="1400" dirty="0"/>
          </a:p>
        </p:txBody>
      </p:sp>
      <p:sp>
        <p:nvSpPr>
          <p:cNvPr id="18" name="Mock value 5"/>
          <p:cNvSpPr txBox="1"/>
          <p:nvPr/>
        </p:nvSpPr>
        <p:spPr>
          <a:xfrm>
            <a:off x="2651760" y="3520440"/>
            <a:ext cx="2926080" cy="365760"/>
          </a:xfrm>
          <a:prstGeom prst="rect">
            <a:avLst/>
          </a:prstGeom>
          <a:noFill/>
          <a:ln/>
        </p:spPr>
        <p:txBody>
          <a:bodyPr wrap="square" lIns="0" tIns="0" rIns="0" bIns="0" rtlCol="0" anchor="t"/>
          <a:lstStyle/>
          <a:p>
            <a:pPr indent="0" marL="0">
              <a:buNone/>
            </a:pPr>
            <a:r>
              <a:rPr lang="en-US" sz="1400" dirty="0">
                <a:solidFill>
                  <a:schemeClr val="tx1"/>
                </a:solidFill>
              </a:rPr>
              <a:t>possible phantom billing</a:t>
            </a:r>
            <a:endParaRPr lang="en-US" sz="1400" dirty="0"/>
          </a:p>
        </p:txBody>
      </p:sp>
      <p:sp>
        <p:nvSpPr>
          <p:cNvPr id="19" name="Mock key 6"/>
          <p:cNvSpPr txBox="1"/>
          <p:nvPr/>
        </p:nvSpPr>
        <p:spPr>
          <a:xfrm>
            <a:off x="685800" y="3931920"/>
            <a:ext cx="1920240" cy="365760"/>
          </a:xfrm>
          <a:prstGeom prst="rect">
            <a:avLst/>
          </a:prstGeom>
          <a:noFill/>
          <a:ln/>
        </p:spPr>
        <p:txBody>
          <a:bodyPr wrap="square" lIns="0" tIns="0" rIns="0" bIns="0" rtlCol="0" anchor="t"/>
          <a:lstStyle/>
          <a:p>
            <a:pPr indent="0" marL="0">
              <a:buNone/>
            </a:pPr>
            <a:r>
              <a:rPr lang="en-US" sz="1400" b="1" dirty="0">
                <a:solidFill>
                  <a:schemeClr val="accent4"/>
                </a:solidFill>
              </a:rPr>
              <a:t>Escalated because</a:t>
            </a:r>
            <a:endParaRPr lang="en-US" sz="1400" dirty="0"/>
          </a:p>
        </p:txBody>
      </p:sp>
      <p:sp>
        <p:nvSpPr>
          <p:cNvPr id="20" name="Mock value 6"/>
          <p:cNvSpPr txBox="1"/>
          <p:nvPr/>
        </p:nvSpPr>
        <p:spPr>
          <a:xfrm>
            <a:off x="2651760" y="3931920"/>
            <a:ext cx="2926080" cy="365760"/>
          </a:xfrm>
          <a:prstGeom prst="rect">
            <a:avLst/>
          </a:prstGeom>
          <a:noFill/>
          <a:ln/>
        </p:spPr>
        <p:txBody>
          <a:bodyPr wrap="square" lIns="0" tIns="0" rIns="0" bIns="0" rtlCol="0" anchor="t"/>
          <a:lstStyle/>
          <a:p>
            <a:pPr indent="0" marL="0">
              <a:buNone/>
            </a:pPr>
            <a:r>
              <a:rPr lang="en-US" sz="1400" dirty="0">
                <a:solidFill>
                  <a:schemeClr val="tx1"/>
                </a:solidFill>
              </a:rPr>
              <a:t>p ≤ 0.05 and unexplained</a:t>
            </a:r>
            <a:endParaRPr lang="en-US" sz="1400" dirty="0"/>
          </a:p>
        </p:txBody>
      </p:sp>
      <p:sp>
        <p:nvSpPr>
          <p:cNvPr id="21" name="Right head"/>
          <p:cNvSpPr txBox="1"/>
          <p:nvPr/>
        </p:nvSpPr>
        <p:spPr>
          <a:xfrm>
            <a:off x="6035040" y="1325880"/>
            <a:ext cx="2651760" cy="365760"/>
          </a:xfrm>
          <a:prstGeom prst="rect">
            <a:avLst/>
          </a:prstGeom>
          <a:noFill/>
          <a:ln/>
        </p:spPr>
        <p:txBody>
          <a:bodyPr wrap="square" lIns="0" tIns="0" rIns="0" bIns="0" rtlCol="0" anchor="t"/>
          <a:lstStyle/>
          <a:p>
            <a:pPr indent="0" marL="0">
              <a:buNone/>
            </a:pPr>
            <a:r>
              <a:rPr lang="en-US" sz="1800" b="1" dirty="0">
                <a:solidFill>
                  <a:schemeClr val="tx2"/>
                </a:solidFill>
              </a:rPr>
              <a:t>A hypothesis, not a verdict</a:t>
            </a:r>
            <a:endParaRPr lang="en-US" sz="1800" dirty="0"/>
          </a:p>
        </p:txBody>
      </p:sp>
      <p:sp>
        <p:nvSpPr>
          <p:cNvPr id="22" name="Right list"/>
          <p:cNvSpPr txBox="1"/>
          <p:nvPr/>
        </p:nvSpPr>
        <p:spPr>
          <a:xfrm>
            <a:off x="6035040" y="1783080"/>
            <a:ext cx="2651760" cy="237744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Escalated claims are grouped by HDBSCAN, with no preset cluster count</a:t>
            </a:r>
            <a:endParaRPr lang="en-US" sz="1400" dirty="0"/>
          </a:p>
          <a:p>
            <a:pPr marL="342900" indent="-342900">
              <a:spcAft>
                <a:spcPts val="400"/>
              </a:spcAft>
              <a:buSzPct val="100000"/>
              <a:buChar char="•"/>
            </a:pPr>
            <a:r>
              <a:rPr lang="en-US" sz="1400" dirty="0">
                <a:solidFill>
                  <a:schemeClr val="tx1"/>
                </a:solidFill>
              </a:rPr>
              <a:t>Each card says why it was escalated</a:t>
            </a:r>
            <a:endParaRPr lang="en-US" sz="1400" dirty="0"/>
          </a:p>
          <a:p>
            <a:pPr marL="342900" indent="-342900">
              <a:spcAft>
                <a:spcPts val="400"/>
              </a:spcAft>
              <a:buSzPct val="100000"/>
              <a:buChar char="•"/>
            </a:pPr>
            <a:r>
              <a:rPr lang="en-US" sz="1400" dirty="0">
                <a:solidFill>
                  <a:schemeClr val="tx1"/>
                </a:solidFill>
              </a:rPr>
              <a:t>α is the knob: set it to match audit capacity</a:t>
            </a:r>
            <a:endParaRPr lang="en-US" sz="1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Tech stack</a:t>
            </a:r>
            <a:endParaRPr lang="en-US" sz="3400" dirty="0"/>
          </a:p>
        </p:txBody>
      </p:sp>
      <p:sp>
        <p:nvSpPr>
          <p:cNvPr id="4" name="Today card"/>
          <p:cNvSpPr/>
          <p:nvPr/>
        </p:nvSpPr>
        <p:spPr>
          <a:xfrm>
            <a:off x="457200" y="1280160"/>
            <a:ext cx="3931920" cy="3154680"/>
          </a:xfrm>
          <a:prstGeom prst="roundRect">
            <a:avLst>
              <a:gd name="adj" fmla="val 3478"/>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5" name="Today head"/>
          <p:cNvSpPr txBox="1"/>
          <p:nvPr/>
        </p:nvSpPr>
        <p:spPr>
          <a:xfrm>
            <a:off x="685800" y="1417320"/>
            <a:ext cx="3474720" cy="365760"/>
          </a:xfrm>
          <a:prstGeom prst="rect">
            <a:avLst/>
          </a:prstGeom>
          <a:noFill/>
          <a:ln/>
        </p:spPr>
        <p:txBody>
          <a:bodyPr wrap="square" lIns="0" tIns="0" rIns="0" bIns="0" rtlCol="0" anchor="t"/>
          <a:lstStyle/>
          <a:p>
            <a:pPr indent="0" marL="0">
              <a:buNone/>
            </a:pPr>
            <a:r>
              <a:rPr lang="en-US" sz="2000" b="1" dirty="0">
                <a:solidFill>
                  <a:schemeClr val="tx2"/>
                </a:solidFill>
              </a:rPr>
              <a:t>In the code today</a:t>
            </a:r>
            <a:endParaRPr lang="en-US" sz="2000" dirty="0"/>
          </a:p>
        </p:txBody>
      </p:sp>
      <p:sp>
        <p:nvSpPr>
          <p:cNvPr id="6" name="Today list"/>
          <p:cNvSpPr txBox="1"/>
          <p:nvPr/>
        </p:nvSpPr>
        <p:spPr>
          <a:xfrm>
            <a:off x="685800" y="1920240"/>
            <a:ext cx="3474720" cy="237744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Python 3, NumPy, SciPy</a:t>
            </a:r>
            <a:endParaRPr lang="en-US" sz="1600" dirty="0"/>
          </a:p>
          <a:p>
            <a:pPr marL="342900" indent="-342900">
              <a:spcAft>
                <a:spcPts val="400"/>
              </a:spcAft>
              <a:buSzPct val="100000"/>
              <a:buChar char="•"/>
            </a:pPr>
            <a:r>
              <a:rPr lang="en-US" sz="1600" dirty="0">
                <a:solidFill>
                  <a:schemeClr val="tx1"/>
                </a:solidFill>
              </a:rPr>
              <a:t>scikit-learn: logistic regression, gradient boosting, Isolation Forest</a:t>
            </a:r>
            <a:endParaRPr lang="en-US" sz="1600" dirty="0"/>
          </a:p>
          <a:p>
            <a:pPr marL="342900" indent="-342900">
              <a:spcAft>
                <a:spcPts val="400"/>
              </a:spcAft>
              <a:buSzPct val="100000"/>
              <a:buChar char="•"/>
            </a:pPr>
            <a:r>
              <a:rPr lang="en-US" sz="1600" dirty="0">
                <a:solidFill>
                  <a:schemeClr val="tx1"/>
                </a:solidFill>
              </a:rPr>
              <a:t>Own synthetic claim generator</a:t>
            </a:r>
            <a:endParaRPr lang="en-US" sz="1600" dirty="0"/>
          </a:p>
          <a:p>
            <a:pPr marL="342900" indent="-342900">
              <a:spcAft>
                <a:spcPts val="400"/>
              </a:spcAft>
              <a:buSzPct val="100000"/>
              <a:buChar char="•"/>
            </a:pPr>
            <a:r>
              <a:rPr lang="en-US" sz="1600" dirty="0">
                <a:solidFill>
                  <a:schemeClr val="tx1"/>
                </a:solidFill>
              </a:rPr>
              <a:t>No deep learning in this script</a:t>
            </a:r>
            <a:endParaRPr lang="en-US" sz="1600" dirty="0"/>
          </a:p>
        </p:txBody>
      </p:sp>
      <p:sp>
        <p:nvSpPr>
          <p:cNvPr id="7" name="Deep card"/>
          <p:cNvSpPr/>
          <p:nvPr/>
        </p:nvSpPr>
        <p:spPr>
          <a:xfrm>
            <a:off x="4663440" y="1280160"/>
            <a:ext cx="3931920" cy="3154680"/>
          </a:xfrm>
          <a:prstGeom prst="roundRect">
            <a:avLst>
              <a:gd name="adj" fmla="val 3478"/>
            </a:avLst>
          </a:prstGeom>
          <a:solidFill>
            <a:srgbClr val="D9F0EC"/>
          </a:solidFill>
          <a:ln w="12700">
            <a:solidFill>
              <a:srgbClr val="D9F0EC"/>
            </a:solidFill>
            <a:prstDash val="solid"/>
          </a:ln>
          <a:effectLst>
            <a:outerShdw sx="100000" sy="100000" kx="0" ky="0" algn="bl" rotWithShape="0" blurRad="76200" dist="25400" dir="5400000">
              <a:srgbClr val="000000">
                <a:alpha val="12000"/>
              </a:srgbClr>
            </a:outerShdw>
          </a:effectLst>
        </p:spPr>
      </p:sp>
      <p:sp>
        <p:nvSpPr>
          <p:cNvPr id="8" name="Deep head"/>
          <p:cNvSpPr txBox="1"/>
          <p:nvPr/>
        </p:nvSpPr>
        <p:spPr>
          <a:xfrm>
            <a:off x="4892040" y="1417320"/>
            <a:ext cx="3474720" cy="365760"/>
          </a:xfrm>
          <a:prstGeom prst="rect">
            <a:avLst/>
          </a:prstGeom>
          <a:noFill/>
          <a:ln/>
        </p:spPr>
        <p:txBody>
          <a:bodyPr wrap="square" lIns="0" tIns="0" rIns="0" bIns="0" rtlCol="0" anchor="t"/>
          <a:lstStyle/>
          <a:p>
            <a:pPr indent="0" marL="0">
              <a:buNone/>
            </a:pPr>
            <a:r>
              <a:rPr lang="en-US" sz="2000" b="1" dirty="0">
                <a:solidFill>
                  <a:schemeClr val="accent2"/>
                </a:solidFill>
              </a:rPr>
              <a:t>Deep + graph version</a:t>
            </a:r>
            <a:endParaRPr lang="en-US" sz="2000" dirty="0"/>
          </a:p>
        </p:txBody>
      </p:sp>
      <p:sp>
        <p:nvSpPr>
          <p:cNvPr id="9" name="Deep list"/>
          <p:cNvSpPr txBox="1"/>
          <p:nvPr/>
        </p:nvSpPr>
        <p:spPr>
          <a:xfrm>
            <a:off x="4892040" y="1920240"/>
            <a:ext cx="3474720" cy="237744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PyTorch: LSTM, Conv1d, TransformerEncoder (written, not trained)</a:t>
            </a:r>
            <a:endParaRPr lang="en-US" sz="1600" dirty="0"/>
          </a:p>
          <a:p>
            <a:pPr marL="342900" indent="-342900">
              <a:spcAft>
                <a:spcPts val="400"/>
              </a:spcAft>
              <a:buSzPct val="100000"/>
              <a:buChar char="•"/>
            </a:pPr>
            <a:r>
              <a:rPr lang="en-US" sz="1600" dirty="0">
                <a:solidFill>
                  <a:schemeClr val="tx1"/>
                </a:solidFill>
              </a:rPr>
              <a:t>PyTorch Geometric: R-GCN or HGT, temporal neighbour sampling</a:t>
            </a:r>
            <a:endParaRPr lang="en-US" sz="1600" dirty="0"/>
          </a:p>
          <a:p>
            <a:pPr marL="342900" indent="-342900">
              <a:spcAft>
                <a:spcPts val="400"/>
              </a:spcAft>
              <a:buSzPct val="100000"/>
              <a:buChar char="•"/>
            </a:pPr>
            <a:r>
              <a:rPr lang="en-US" sz="1600" dirty="0">
                <a:solidFill>
                  <a:schemeClr val="tx1"/>
                </a:solidFill>
              </a:rPr>
              <a:t>HDBSCAN for cluster cards</a:t>
            </a:r>
            <a:endParaRPr lang="en-US" sz="1600" dirty="0"/>
          </a:p>
          <a:p>
            <a:pPr marL="342900" indent="-342900">
              <a:spcAft>
                <a:spcPts val="400"/>
              </a:spcAft>
              <a:buSzPct val="100000"/>
              <a:buChar char="•"/>
            </a:pPr>
            <a:r>
              <a:rPr lang="en-US" sz="1600" dirty="0">
                <a:solidFill>
                  <a:schemeClr val="tx1"/>
                </a:solidFill>
              </a:rPr>
              <a:t>Conformal calibration in NumPy</a:t>
            </a:r>
            <a:endParaRPr lang="en-US" sz="16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Honest status and limits</a:t>
            </a:r>
            <a:endParaRPr lang="en-US" sz="3400" dirty="0"/>
          </a:p>
        </p:txBody>
      </p:sp>
      <p:sp>
        <p:nvSpPr>
          <p:cNvPr id="4" name="Status card 1"/>
          <p:cNvSpPr/>
          <p:nvPr/>
        </p:nvSpPr>
        <p:spPr>
          <a:xfrm>
            <a:off x="457200" y="1280160"/>
            <a:ext cx="2606040" cy="3154680"/>
          </a:xfrm>
          <a:prstGeom prst="roundRect">
            <a:avLst>
              <a:gd name="adj" fmla="val 4211"/>
            </a:avLst>
          </a:prstGeom>
          <a:solidFill>
            <a:srgbClr val="D9F0EC"/>
          </a:solidFill>
          <a:ln w="12700">
            <a:solidFill>
              <a:srgbClr val="D9F0EC"/>
            </a:solidFill>
            <a:prstDash val="solid"/>
          </a:ln>
          <a:effectLst>
            <a:outerShdw sx="100000" sy="100000" kx="0" ky="0" algn="bl" rotWithShape="0" blurRad="76200" dist="25400" dir="5400000">
              <a:srgbClr val="000000">
                <a:alpha val="12000"/>
              </a:srgbClr>
            </a:outerShdw>
          </a:effectLst>
        </p:spPr>
      </p:sp>
      <p:sp>
        <p:nvSpPr>
          <p:cNvPr id="5" name="Status head 1"/>
          <p:cNvSpPr txBox="1"/>
          <p:nvPr/>
        </p:nvSpPr>
        <p:spPr>
          <a:xfrm>
            <a:off x="640080" y="1417320"/>
            <a:ext cx="2240280" cy="365760"/>
          </a:xfrm>
          <a:prstGeom prst="rect">
            <a:avLst/>
          </a:prstGeom>
          <a:noFill/>
          <a:ln/>
        </p:spPr>
        <p:txBody>
          <a:bodyPr wrap="square" lIns="0" tIns="0" rIns="0" bIns="0" rtlCol="0" anchor="t"/>
          <a:lstStyle/>
          <a:p>
            <a:pPr indent="0" marL="0">
              <a:buNone/>
            </a:pPr>
            <a:r>
              <a:rPr lang="en-US" sz="2000" b="1" dirty="0">
                <a:solidFill>
                  <a:srgbClr val="0F766E"/>
                </a:solidFill>
              </a:rPr>
              <a:t>Working today</a:t>
            </a:r>
            <a:endParaRPr lang="en-US" sz="2000" dirty="0"/>
          </a:p>
        </p:txBody>
      </p:sp>
      <p:sp>
        <p:nvSpPr>
          <p:cNvPr id="6" name="Status list 1"/>
          <p:cNvSpPr txBox="1"/>
          <p:nvPr/>
        </p:nvSpPr>
        <p:spPr>
          <a:xfrm>
            <a:off x="640080" y="1920240"/>
            <a:ext cx="2240280" cy="237744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Tabular prototype runs end to end</a:t>
            </a:r>
            <a:endParaRPr lang="en-US" sz="1600" dirty="0"/>
          </a:p>
          <a:p>
            <a:pPr marL="342900" indent="-342900">
              <a:spcAft>
                <a:spcPts val="400"/>
              </a:spcAft>
              <a:buSzPct val="100000"/>
              <a:buChar char="•"/>
            </a:pPr>
            <a:r>
              <a:rPr lang="en-US" sz="1600" dirty="0">
                <a:solidFill>
                  <a:schemeClr val="tx1"/>
                </a:solidFill>
              </a:rPr>
              <a:t>Paper draft written</a:t>
            </a:r>
            <a:endParaRPr lang="en-US" sz="1600" dirty="0"/>
          </a:p>
          <a:p>
            <a:pPr marL="342900" indent="-342900">
              <a:spcAft>
                <a:spcPts val="400"/>
              </a:spcAft>
              <a:buSzPct val="100000"/>
              <a:buChar char="•"/>
            </a:pPr>
            <a:r>
              <a:rPr lang="en-US" sz="1600" dirty="0">
                <a:solidFill>
                  <a:schemeClr val="tx1"/>
                </a:solidFill>
              </a:rPr>
              <a:t>Deep branches written, syntax-checked</a:t>
            </a:r>
            <a:endParaRPr lang="en-US" sz="1600" dirty="0"/>
          </a:p>
        </p:txBody>
      </p:sp>
      <p:sp>
        <p:nvSpPr>
          <p:cNvPr id="7" name="Status card 2"/>
          <p:cNvSpPr/>
          <p:nvPr/>
        </p:nvSpPr>
        <p:spPr>
          <a:xfrm>
            <a:off x="3246120" y="1280160"/>
            <a:ext cx="2606040" cy="3154680"/>
          </a:xfrm>
          <a:prstGeom prst="roundRect">
            <a:avLst>
              <a:gd name="adj" fmla="val 4211"/>
            </a:avLst>
          </a:prstGeom>
          <a:solidFill>
            <a:srgbClr val="FFF3E8"/>
          </a:solidFill>
          <a:ln w="12700">
            <a:solidFill>
              <a:srgbClr val="FFF3E8"/>
            </a:solidFill>
            <a:prstDash val="solid"/>
          </a:ln>
          <a:effectLst>
            <a:outerShdw sx="100000" sy="100000" kx="0" ky="0" algn="bl" rotWithShape="0" blurRad="76200" dist="25400" dir="5400000">
              <a:srgbClr val="000000">
                <a:alpha val="12000"/>
              </a:srgbClr>
            </a:outerShdw>
          </a:effectLst>
        </p:spPr>
      </p:sp>
      <p:sp>
        <p:nvSpPr>
          <p:cNvPr id="8" name="Status head 2"/>
          <p:cNvSpPr txBox="1"/>
          <p:nvPr/>
        </p:nvSpPr>
        <p:spPr>
          <a:xfrm>
            <a:off x="3429000" y="1417320"/>
            <a:ext cx="2240280" cy="365760"/>
          </a:xfrm>
          <a:prstGeom prst="rect">
            <a:avLst/>
          </a:prstGeom>
          <a:noFill/>
          <a:ln/>
        </p:spPr>
        <p:txBody>
          <a:bodyPr wrap="square" lIns="0" tIns="0" rIns="0" bIns="0" rtlCol="0" anchor="t"/>
          <a:lstStyle/>
          <a:p>
            <a:pPr indent="0" marL="0">
              <a:buNone/>
            </a:pPr>
            <a:r>
              <a:rPr lang="en-US" sz="2000" b="1" dirty="0">
                <a:solidFill>
                  <a:srgbClr val="F26B1D"/>
                </a:solidFill>
              </a:rPr>
              <a:t>Not done yet</a:t>
            </a:r>
            <a:endParaRPr lang="en-US" sz="2000" dirty="0"/>
          </a:p>
        </p:txBody>
      </p:sp>
      <p:sp>
        <p:nvSpPr>
          <p:cNvPr id="9" name="Status list 2"/>
          <p:cNvSpPr txBox="1"/>
          <p:nvPr/>
        </p:nvSpPr>
        <p:spPr>
          <a:xfrm>
            <a:off x="3429000" y="1920240"/>
            <a:ext cx="2240280" cy="237744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Train and ablate LSTM, CNN, Transformer</a:t>
            </a:r>
            <a:endParaRPr lang="en-US" sz="1600" dirty="0"/>
          </a:p>
          <a:p>
            <a:pPr marL="342900" indent="-342900">
              <a:spcAft>
                <a:spcPts val="400"/>
              </a:spcAft>
              <a:buSzPct val="100000"/>
              <a:buChar char="•"/>
            </a:pPr>
            <a:r>
              <a:rPr lang="en-US" sz="1600" dirty="0">
                <a:solidFill>
                  <a:schemeClr val="tx1"/>
                </a:solidFill>
              </a:rPr>
              <a:t>Graph encoder in PyG</a:t>
            </a:r>
            <a:endParaRPr lang="en-US" sz="1600" dirty="0"/>
          </a:p>
          <a:p>
            <a:pPr marL="342900" indent="-342900">
              <a:spcAft>
                <a:spcPts val="400"/>
              </a:spcAft>
              <a:buSzPct val="100000"/>
              <a:buChar char="•"/>
            </a:pPr>
            <a:r>
              <a:rPr lang="en-US" sz="1600" dirty="0">
                <a:solidFill>
                  <a:schemeClr val="tx1"/>
                </a:solidFill>
              </a:rPr>
              <a:t>Real public dataset</a:t>
            </a:r>
            <a:endParaRPr lang="en-US" sz="1600" dirty="0"/>
          </a:p>
          <a:p>
            <a:pPr marL="342900" indent="-342900">
              <a:spcAft>
                <a:spcPts val="400"/>
              </a:spcAft>
              <a:buSzPct val="100000"/>
              <a:buChar char="•"/>
            </a:pPr>
            <a:r>
              <a:rPr lang="en-US" sz="1600" dirty="0">
                <a:solidFill>
                  <a:schemeClr val="tx1"/>
                </a:solidFill>
              </a:rPr>
              <a:t>More baselines</a:t>
            </a:r>
            <a:endParaRPr lang="en-US" sz="1600" dirty="0"/>
          </a:p>
        </p:txBody>
      </p:sp>
      <p:sp>
        <p:nvSpPr>
          <p:cNvPr id="10" name="Status card 3"/>
          <p:cNvSpPr/>
          <p:nvPr/>
        </p:nvSpPr>
        <p:spPr>
          <a:xfrm>
            <a:off x="6035040" y="1280160"/>
            <a:ext cx="2606040" cy="3154680"/>
          </a:xfrm>
          <a:prstGeom prst="roundRect">
            <a:avLst>
              <a:gd name="adj" fmla="val 4211"/>
            </a:avLst>
          </a:prstGeom>
          <a:solidFill>
            <a:srgbClr val="FDECEC"/>
          </a:solidFill>
          <a:ln w="12700">
            <a:solidFill>
              <a:srgbClr val="FDECEC"/>
            </a:solidFill>
            <a:prstDash val="solid"/>
          </a:ln>
          <a:effectLst>
            <a:outerShdw sx="100000" sy="100000" kx="0" ky="0" algn="bl" rotWithShape="0" blurRad="76200" dist="25400" dir="5400000">
              <a:srgbClr val="000000">
                <a:alpha val="12000"/>
              </a:srgbClr>
            </a:outerShdw>
          </a:effectLst>
        </p:spPr>
      </p:sp>
      <p:sp>
        <p:nvSpPr>
          <p:cNvPr id="11" name="Status head 3"/>
          <p:cNvSpPr txBox="1"/>
          <p:nvPr/>
        </p:nvSpPr>
        <p:spPr>
          <a:xfrm>
            <a:off x="6217920" y="1417320"/>
            <a:ext cx="2240280" cy="365760"/>
          </a:xfrm>
          <a:prstGeom prst="rect">
            <a:avLst/>
          </a:prstGeom>
          <a:noFill/>
          <a:ln/>
        </p:spPr>
        <p:txBody>
          <a:bodyPr wrap="square" lIns="0" tIns="0" rIns="0" bIns="0" rtlCol="0" anchor="t"/>
          <a:lstStyle/>
          <a:p>
            <a:pPr indent="0" marL="0">
              <a:buNone/>
            </a:pPr>
            <a:r>
              <a:rPr lang="en-US" sz="2000" b="1" dirty="0">
                <a:solidFill>
                  <a:srgbClr val="B91C1C"/>
                </a:solidFill>
              </a:rPr>
              <a:t>Main risks</a:t>
            </a:r>
            <a:endParaRPr lang="en-US" sz="2000" dirty="0"/>
          </a:p>
        </p:txBody>
      </p:sp>
      <p:sp>
        <p:nvSpPr>
          <p:cNvPr id="12" name="Status list 3"/>
          <p:cNvSpPr txBox="1"/>
          <p:nvPr/>
        </p:nvSpPr>
        <p:spPr>
          <a:xfrm>
            <a:off x="6217920" y="1920240"/>
            <a:ext cx="2240280" cy="2377440"/>
          </a:xfrm>
          <a:prstGeom prst="rect">
            <a:avLst/>
          </a:prstGeom>
          <a:noFill/>
          <a:ln/>
        </p:spPr>
        <p:txBody>
          <a:bodyPr wrap="square" lIns="0" tIns="0" rIns="0" bIns="0" rtlCol="0" anchor="t"/>
          <a:lstStyle/>
          <a:p>
            <a:pPr marL="342900" indent="-342900">
              <a:spcAft>
                <a:spcPts val="400"/>
              </a:spcAft>
              <a:buSzPct val="100000"/>
              <a:buChar char="•"/>
            </a:pPr>
            <a:r>
              <a:rPr lang="en-US" sz="1600" dirty="0">
                <a:solidFill>
                  <a:schemeClr val="tx1"/>
                </a:solidFill>
              </a:rPr>
              <a:t>Synthetic-only evidence</a:t>
            </a:r>
            <a:endParaRPr lang="en-US" sz="1600" dirty="0"/>
          </a:p>
          <a:p>
            <a:pPr marL="342900" indent="-342900">
              <a:spcAft>
                <a:spcPts val="400"/>
              </a:spcAft>
              <a:buSzPct val="100000"/>
              <a:buChar char="•"/>
            </a:pPr>
            <a:r>
              <a:rPr lang="en-US" sz="1600" dirty="0">
                <a:solidFill>
                  <a:schemeClr val="tx1"/>
                </a:solidFill>
              </a:rPr>
              <a:t>Conformal validity under drift</a:t>
            </a:r>
            <a:endParaRPr lang="en-US" sz="1600" dirty="0"/>
          </a:p>
          <a:p>
            <a:pPr marL="342900" indent="-342900">
              <a:spcAft>
                <a:spcPts val="400"/>
              </a:spcAft>
              <a:buSzPct val="100000"/>
              <a:buChar char="•"/>
            </a:pPr>
            <a:r>
              <a:rPr lang="en-US" sz="1600" dirty="0">
                <a:solidFill>
                  <a:schemeClr val="tx1"/>
                </a:solidFill>
              </a:rPr>
              <a:t>Filter inputs must be exogenous</a:t>
            </a:r>
            <a:endParaRPr lang="en-US" sz="1600" dirty="0"/>
          </a:p>
          <a:p>
            <a:pPr marL="342900" indent="-342900">
              <a:spcAft>
                <a:spcPts val="400"/>
              </a:spcAft>
              <a:buSzPct val="100000"/>
              <a:buChar char="•"/>
            </a:pPr>
            <a:r>
              <a:rPr lang="en-US" sz="1600" dirty="0">
                <a:solidFill>
                  <a:schemeClr val="tx1"/>
                </a:solidFill>
              </a:rPr>
              <a:t>Generator needs sequences</a:t>
            </a:r>
            <a:endParaRPr lang="en-US" sz="16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Roadmap to publication</a:t>
            </a:r>
            <a:endParaRPr lang="en-US" sz="3400" dirty="0"/>
          </a:p>
        </p:txBody>
      </p:sp>
      <p:sp>
        <p:nvSpPr>
          <p:cNvPr id="4" name="Road circle 1"/>
          <p:cNvSpPr/>
          <p:nvPr/>
        </p:nvSpPr>
        <p:spPr>
          <a:xfrm>
            <a:off x="960120" y="1371600"/>
            <a:ext cx="594360" cy="594360"/>
          </a:xfrm>
          <a:prstGeom prst="ellipse">
            <a:avLst/>
          </a:prstGeom>
          <a:solidFill>
            <a:schemeClr val="accent1"/>
          </a:solidFill>
          <a:ln w="12700">
            <a:solidFill>
              <a:schemeClr val="accent1"/>
            </a:solidFill>
            <a:prstDash val="solid"/>
          </a:ln>
        </p:spPr>
      </p:sp>
      <p:sp>
        <p:nvSpPr>
          <p:cNvPr id="5" name="Road number 1"/>
          <p:cNvSpPr txBox="1"/>
          <p:nvPr/>
        </p:nvSpPr>
        <p:spPr>
          <a:xfrm>
            <a:off x="960120" y="13716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rPr>
              <a:t>1</a:t>
            </a:r>
            <a:endParaRPr lang="en-US" sz="2200" dirty="0"/>
          </a:p>
        </p:txBody>
      </p:sp>
      <p:sp>
        <p:nvSpPr>
          <p:cNvPr id="6" name="Road arrow 1"/>
          <p:cNvSpPr/>
          <p:nvPr/>
        </p:nvSpPr>
        <p:spPr>
          <a:xfrm>
            <a:off x="1645920" y="1664208"/>
            <a:ext cx="438912" cy="0"/>
          </a:xfrm>
          <a:prstGeom prst="line">
            <a:avLst/>
          </a:prstGeom>
          <a:noFill/>
          <a:ln w="25400">
            <a:solidFill>
              <a:srgbClr val="6B7280"/>
            </a:solidFill>
            <a:prstDash val="solid"/>
            <a:tailEnd type="triangle"/>
          </a:ln>
        </p:spPr>
      </p:sp>
      <p:sp>
        <p:nvSpPr>
          <p:cNvPr id="7" name="Road head 1"/>
          <p:cNvSpPr txBox="1"/>
          <p:nvPr/>
        </p:nvSpPr>
        <p:spPr>
          <a:xfrm>
            <a:off x="457200" y="2194560"/>
            <a:ext cx="1572768" cy="640080"/>
          </a:xfrm>
          <a:prstGeom prst="rect">
            <a:avLst/>
          </a:prstGeom>
          <a:noFill/>
          <a:ln/>
        </p:spPr>
        <p:txBody>
          <a:bodyPr wrap="square" lIns="0" tIns="0" rIns="0" bIns="0" rtlCol="0" anchor="t"/>
          <a:lstStyle/>
          <a:p>
            <a:pPr algn="ctr" indent="0" marL="0">
              <a:buNone/>
            </a:pPr>
            <a:r>
              <a:rPr lang="en-US" sz="1600" b="1" dirty="0">
                <a:solidFill>
                  <a:schemeClr val="tx1"/>
                </a:solidFill>
              </a:rPr>
              <a:t>Extend the generator</a:t>
            </a:r>
            <a:endParaRPr lang="en-US" sz="1600" dirty="0"/>
          </a:p>
        </p:txBody>
      </p:sp>
      <p:sp>
        <p:nvSpPr>
          <p:cNvPr id="8" name="Road body 1"/>
          <p:cNvSpPr txBox="1"/>
          <p:nvPr/>
        </p:nvSpPr>
        <p:spPr>
          <a:xfrm>
            <a:off x="457200" y="2880360"/>
            <a:ext cx="1572768" cy="1005840"/>
          </a:xfrm>
          <a:prstGeom prst="rect">
            <a:avLst/>
          </a:prstGeom>
          <a:noFill/>
          <a:ln/>
        </p:spPr>
        <p:txBody>
          <a:bodyPr wrap="square" lIns="0" tIns="0" rIns="0" bIns="0" rtlCol="0" anchor="t"/>
          <a:lstStyle/>
          <a:p>
            <a:pPr algn="ctr" indent="0" marL="0">
              <a:buNone/>
            </a:pPr>
            <a:r>
              <a:rPr lang="en-US" sz="1400" dirty="0">
                <a:solidFill>
                  <a:schemeClr val="tx1"/>
                </a:solidFill>
              </a:rPr>
              <a:t>History and code sequences per claim</a:t>
            </a:r>
            <a:endParaRPr lang="en-US" sz="1400" dirty="0"/>
          </a:p>
        </p:txBody>
      </p:sp>
      <p:sp>
        <p:nvSpPr>
          <p:cNvPr id="9" name="Road circle 2"/>
          <p:cNvSpPr/>
          <p:nvPr/>
        </p:nvSpPr>
        <p:spPr>
          <a:xfrm>
            <a:off x="2624328" y="1371600"/>
            <a:ext cx="594360" cy="594360"/>
          </a:xfrm>
          <a:prstGeom prst="ellipse">
            <a:avLst/>
          </a:prstGeom>
          <a:solidFill>
            <a:schemeClr val="accent1"/>
          </a:solidFill>
          <a:ln w="12700">
            <a:solidFill>
              <a:schemeClr val="accent1"/>
            </a:solidFill>
            <a:prstDash val="solid"/>
          </a:ln>
        </p:spPr>
      </p:sp>
      <p:sp>
        <p:nvSpPr>
          <p:cNvPr id="10" name="Road number 2"/>
          <p:cNvSpPr txBox="1"/>
          <p:nvPr/>
        </p:nvSpPr>
        <p:spPr>
          <a:xfrm>
            <a:off x="2624328" y="13716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rPr>
              <a:t>2</a:t>
            </a:r>
            <a:endParaRPr lang="en-US" sz="2200" dirty="0"/>
          </a:p>
        </p:txBody>
      </p:sp>
      <p:sp>
        <p:nvSpPr>
          <p:cNvPr id="11" name="Road arrow 2"/>
          <p:cNvSpPr/>
          <p:nvPr/>
        </p:nvSpPr>
        <p:spPr>
          <a:xfrm>
            <a:off x="3310128" y="1664208"/>
            <a:ext cx="438912" cy="0"/>
          </a:xfrm>
          <a:prstGeom prst="line">
            <a:avLst/>
          </a:prstGeom>
          <a:noFill/>
          <a:ln w="25400">
            <a:solidFill>
              <a:srgbClr val="6B7280"/>
            </a:solidFill>
            <a:prstDash val="solid"/>
            <a:tailEnd type="triangle"/>
          </a:ln>
        </p:spPr>
      </p:sp>
      <p:sp>
        <p:nvSpPr>
          <p:cNvPr id="12" name="Road head 2"/>
          <p:cNvSpPr txBox="1"/>
          <p:nvPr/>
        </p:nvSpPr>
        <p:spPr>
          <a:xfrm>
            <a:off x="2121408" y="2194560"/>
            <a:ext cx="1572768" cy="640080"/>
          </a:xfrm>
          <a:prstGeom prst="rect">
            <a:avLst/>
          </a:prstGeom>
          <a:noFill/>
          <a:ln/>
        </p:spPr>
        <p:txBody>
          <a:bodyPr wrap="square" lIns="0" tIns="0" rIns="0" bIns="0" rtlCol="0" anchor="t"/>
          <a:lstStyle/>
          <a:p>
            <a:pPr algn="ctr" indent="0" marL="0">
              <a:buNone/>
            </a:pPr>
            <a:r>
              <a:rPr lang="en-US" sz="1600" b="1" dirty="0">
                <a:solidFill>
                  <a:schemeClr val="tx1"/>
                </a:solidFill>
              </a:rPr>
              <a:t>Train and ablate</a:t>
            </a:r>
            <a:endParaRPr lang="en-US" sz="1600" dirty="0"/>
          </a:p>
        </p:txBody>
      </p:sp>
      <p:sp>
        <p:nvSpPr>
          <p:cNvPr id="13" name="Road body 2"/>
          <p:cNvSpPr txBox="1"/>
          <p:nvPr/>
        </p:nvSpPr>
        <p:spPr>
          <a:xfrm>
            <a:off x="2121408" y="2880360"/>
            <a:ext cx="1572768" cy="1005840"/>
          </a:xfrm>
          <a:prstGeom prst="rect">
            <a:avLst/>
          </a:prstGeom>
          <a:noFill/>
          <a:ln/>
        </p:spPr>
        <p:txBody>
          <a:bodyPr wrap="square" lIns="0" tIns="0" rIns="0" bIns="0" rtlCol="0" anchor="t"/>
          <a:lstStyle/>
          <a:p>
            <a:pPr algn="ctr" indent="0" marL="0">
              <a:buNone/>
            </a:pPr>
            <a:r>
              <a:rPr lang="en-US" sz="1400" dirty="0">
                <a:solidFill>
                  <a:schemeClr val="tx1"/>
                </a:solidFill>
              </a:rPr>
              <a:t>Full model vs without each branch</a:t>
            </a:r>
            <a:endParaRPr lang="en-US" sz="1400" dirty="0"/>
          </a:p>
        </p:txBody>
      </p:sp>
      <p:sp>
        <p:nvSpPr>
          <p:cNvPr id="14" name="Road circle 3"/>
          <p:cNvSpPr/>
          <p:nvPr/>
        </p:nvSpPr>
        <p:spPr>
          <a:xfrm>
            <a:off x="4288536" y="1371600"/>
            <a:ext cx="594360" cy="594360"/>
          </a:xfrm>
          <a:prstGeom prst="ellipse">
            <a:avLst/>
          </a:prstGeom>
          <a:solidFill>
            <a:schemeClr val="accent1"/>
          </a:solidFill>
          <a:ln w="12700">
            <a:solidFill>
              <a:schemeClr val="accent1"/>
            </a:solidFill>
            <a:prstDash val="solid"/>
          </a:ln>
        </p:spPr>
      </p:sp>
      <p:sp>
        <p:nvSpPr>
          <p:cNvPr id="15" name="Road number 3"/>
          <p:cNvSpPr txBox="1"/>
          <p:nvPr/>
        </p:nvSpPr>
        <p:spPr>
          <a:xfrm>
            <a:off x="4288536" y="13716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rPr>
              <a:t>3</a:t>
            </a:r>
            <a:endParaRPr lang="en-US" sz="2200" dirty="0"/>
          </a:p>
        </p:txBody>
      </p:sp>
      <p:sp>
        <p:nvSpPr>
          <p:cNvPr id="16" name="Road arrow 3"/>
          <p:cNvSpPr/>
          <p:nvPr/>
        </p:nvSpPr>
        <p:spPr>
          <a:xfrm>
            <a:off x="4974336" y="1664208"/>
            <a:ext cx="438912" cy="0"/>
          </a:xfrm>
          <a:prstGeom prst="line">
            <a:avLst/>
          </a:prstGeom>
          <a:noFill/>
          <a:ln w="25400">
            <a:solidFill>
              <a:srgbClr val="6B7280"/>
            </a:solidFill>
            <a:prstDash val="solid"/>
            <a:tailEnd type="triangle"/>
          </a:ln>
        </p:spPr>
      </p:sp>
      <p:sp>
        <p:nvSpPr>
          <p:cNvPr id="17" name="Road head 3"/>
          <p:cNvSpPr txBox="1"/>
          <p:nvPr/>
        </p:nvSpPr>
        <p:spPr>
          <a:xfrm>
            <a:off x="3785616" y="2194560"/>
            <a:ext cx="1572768" cy="640080"/>
          </a:xfrm>
          <a:prstGeom prst="rect">
            <a:avLst/>
          </a:prstGeom>
          <a:noFill/>
          <a:ln/>
        </p:spPr>
        <p:txBody>
          <a:bodyPr wrap="square" lIns="0" tIns="0" rIns="0" bIns="0" rtlCol="0" anchor="t"/>
          <a:lstStyle/>
          <a:p>
            <a:pPr algn="ctr" indent="0" marL="0">
              <a:buNone/>
            </a:pPr>
            <a:r>
              <a:rPr lang="en-US" sz="1600" b="1" dirty="0">
                <a:solidFill>
                  <a:schemeClr val="tx1"/>
                </a:solidFill>
              </a:rPr>
              <a:t>Add baselines</a:t>
            </a:r>
            <a:endParaRPr lang="en-US" sz="1600" dirty="0"/>
          </a:p>
        </p:txBody>
      </p:sp>
      <p:sp>
        <p:nvSpPr>
          <p:cNvPr id="18" name="Road body 3"/>
          <p:cNvSpPr txBox="1"/>
          <p:nvPr/>
        </p:nvSpPr>
        <p:spPr>
          <a:xfrm>
            <a:off x="3785616" y="2880360"/>
            <a:ext cx="1572768" cy="1005840"/>
          </a:xfrm>
          <a:prstGeom prst="rect">
            <a:avLst/>
          </a:prstGeom>
          <a:noFill/>
          <a:ln/>
        </p:spPr>
        <p:txBody>
          <a:bodyPr wrap="square" lIns="0" tIns="0" rIns="0" bIns="0" rtlCol="0" anchor="t"/>
          <a:lstStyle/>
          <a:p>
            <a:pPr algn="ctr" indent="0" marL="0">
              <a:buNone/>
            </a:pPr>
            <a:r>
              <a:rPr lang="en-US" sz="1400" dirty="0">
                <a:solidFill>
                  <a:schemeClr val="tx1"/>
                </a:solidFill>
              </a:rPr>
              <a:t>GNNSafe, PyGOD, CARE-GNN, simple rule</a:t>
            </a:r>
            <a:endParaRPr lang="en-US" sz="1400" dirty="0"/>
          </a:p>
        </p:txBody>
      </p:sp>
      <p:sp>
        <p:nvSpPr>
          <p:cNvPr id="19" name="Road circle 4"/>
          <p:cNvSpPr/>
          <p:nvPr/>
        </p:nvSpPr>
        <p:spPr>
          <a:xfrm>
            <a:off x="5952744" y="1371600"/>
            <a:ext cx="594360" cy="594360"/>
          </a:xfrm>
          <a:prstGeom prst="ellipse">
            <a:avLst/>
          </a:prstGeom>
          <a:solidFill>
            <a:schemeClr val="accent1"/>
          </a:solidFill>
          <a:ln w="12700">
            <a:solidFill>
              <a:schemeClr val="accent1"/>
            </a:solidFill>
            <a:prstDash val="solid"/>
          </a:ln>
        </p:spPr>
      </p:sp>
      <p:sp>
        <p:nvSpPr>
          <p:cNvPr id="20" name="Road number 4"/>
          <p:cNvSpPr txBox="1"/>
          <p:nvPr/>
        </p:nvSpPr>
        <p:spPr>
          <a:xfrm>
            <a:off x="5952744" y="13716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rPr>
              <a:t>4</a:t>
            </a:r>
            <a:endParaRPr lang="en-US" sz="2200" dirty="0"/>
          </a:p>
        </p:txBody>
      </p:sp>
      <p:sp>
        <p:nvSpPr>
          <p:cNvPr id="21" name="Road arrow 4"/>
          <p:cNvSpPr/>
          <p:nvPr/>
        </p:nvSpPr>
        <p:spPr>
          <a:xfrm>
            <a:off x="6638544" y="1664208"/>
            <a:ext cx="438912" cy="0"/>
          </a:xfrm>
          <a:prstGeom prst="line">
            <a:avLst/>
          </a:prstGeom>
          <a:noFill/>
          <a:ln w="25400">
            <a:solidFill>
              <a:srgbClr val="6B7280"/>
            </a:solidFill>
            <a:prstDash val="solid"/>
            <a:tailEnd type="triangle"/>
          </a:ln>
        </p:spPr>
      </p:sp>
      <p:sp>
        <p:nvSpPr>
          <p:cNvPr id="22" name="Road head 4"/>
          <p:cNvSpPr txBox="1"/>
          <p:nvPr/>
        </p:nvSpPr>
        <p:spPr>
          <a:xfrm>
            <a:off x="5449824" y="2194560"/>
            <a:ext cx="1572768" cy="640080"/>
          </a:xfrm>
          <a:prstGeom prst="rect">
            <a:avLst/>
          </a:prstGeom>
          <a:noFill/>
          <a:ln/>
        </p:spPr>
        <p:txBody>
          <a:bodyPr wrap="square" lIns="0" tIns="0" rIns="0" bIns="0" rtlCol="0" anchor="t"/>
          <a:lstStyle/>
          <a:p>
            <a:pPr algn="ctr" indent="0" marL="0">
              <a:buNone/>
            </a:pPr>
            <a:r>
              <a:rPr lang="en-US" sz="1600" b="1" dirty="0">
                <a:solidFill>
                  <a:schemeClr val="tx1"/>
                </a:solidFill>
              </a:rPr>
              <a:t>Real data check</a:t>
            </a:r>
            <a:endParaRPr lang="en-US" sz="1600" dirty="0"/>
          </a:p>
        </p:txBody>
      </p:sp>
      <p:sp>
        <p:nvSpPr>
          <p:cNvPr id="23" name="Road body 4"/>
          <p:cNvSpPr txBox="1"/>
          <p:nvPr/>
        </p:nvSpPr>
        <p:spPr>
          <a:xfrm>
            <a:off x="5449824" y="2880360"/>
            <a:ext cx="1572768" cy="1005840"/>
          </a:xfrm>
          <a:prstGeom prst="rect">
            <a:avLst/>
          </a:prstGeom>
          <a:noFill/>
          <a:ln/>
        </p:spPr>
        <p:txBody>
          <a:bodyPr wrap="square" lIns="0" tIns="0" rIns="0" bIns="0" rtlCol="0" anchor="t"/>
          <a:lstStyle/>
          <a:p>
            <a:pPr algn="ctr" indent="0" marL="0">
              <a:buNone/>
            </a:pPr>
            <a:r>
              <a:rPr lang="en-US" sz="1400" dirty="0">
                <a:solidFill>
                  <a:schemeClr val="tx1"/>
                </a:solidFill>
              </a:rPr>
              <a:t>A public claims dataset</a:t>
            </a:r>
            <a:endParaRPr lang="en-US" sz="1400" dirty="0"/>
          </a:p>
        </p:txBody>
      </p:sp>
      <p:sp>
        <p:nvSpPr>
          <p:cNvPr id="24" name="Road circle 5"/>
          <p:cNvSpPr/>
          <p:nvPr/>
        </p:nvSpPr>
        <p:spPr>
          <a:xfrm>
            <a:off x="7616952" y="1371600"/>
            <a:ext cx="594360" cy="594360"/>
          </a:xfrm>
          <a:prstGeom prst="ellipse">
            <a:avLst/>
          </a:prstGeom>
          <a:solidFill>
            <a:schemeClr val="accent1"/>
          </a:solidFill>
          <a:ln w="12700">
            <a:solidFill>
              <a:schemeClr val="accent1"/>
            </a:solidFill>
            <a:prstDash val="solid"/>
          </a:ln>
        </p:spPr>
      </p:sp>
      <p:sp>
        <p:nvSpPr>
          <p:cNvPr id="25" name="Road number 5"/>
          <p:cNvSpPr txBox="1"/>
          <p:nvPr/>
        </p:nvSpPr>
        <p:spPr>
          <a:xfrm>
            <a:off x="7616952" y="1371600"/>
            <a:ext cx="594360" cy="594360"/>
          </a:xfrm>
          <a:prstGeom prst="rect">
            <a:avLst/>
          </a:prstGeom>
          <a:noFill/>
          <a:ln/>
        </p:spPr>
        <p:txBody>
          <a:bodyPr wrap="square" lIns="0" tIns="0" rIns="0" bIns="0" rtlCol="0" anchor="ctr"/>
          <a:lstStyle/>
          <a:p>
            <a:pPr algn="ctr" indent="0" marL="0">
              <a:buNone/>
            </a:pPr>
            <a:r>
              <a:rPr lang="en-US" sz="2200" b="1" dirty="0">
                <a:solidFill>
                  <a:srgbClr val="FFFFFF"/>
                </a:solidFill>
              </a:rPr>
              <a:t>5</a:t>
            </a:r>
            <a:endParaRPr lang="en-US" sz="2200" dirty="0"/>
          </a:p>
        </p:txBody>
      </p:sp>
      <p:sp>
        <p:nvSpPr>
          <p:cNvPr id="26" name="Road head 5"/>
          <p:cNvSpPr txBox="1"/>
          <p:nvPr/>
        </p:nvSpPr>
        <p:spPr>
          <a:xfrm>
            <a:off x="7114032" y="2194560"/>
            <a:ext cx="1572768" cy="640080"/>
          </a:xfrm>
          <a:prstGeom prst="rect">
            <a:avLst/>
          </a:prstGeom>
          <a:noFill/>
          <a:ln/>
        </p:spPr>
        <p:txBody>
          <a:bodyPr wrap="square" lIns="0" tIns="0" rIns="0" bIns="0" rtlCol="0" anchor="t"/>
          <a:lstStyle/>
          <a:p>
            <a:pPr algn="ctr" indent="0" marL="0">
              <a:buNone/>
            </a:pPr>
            <a:r>
              <a:rPr lang="en-US" sz="1600" b="1" dirty="0">
                <a:solidFill>
                  <a:schemeClr val="tx1"/>
                </a:solidFill>
              </a:rPr>
              <a:t>Write and submit</a:t>
            </a:r>
            <a:endParaRPr lang="en-US" sz="1600" dirty="0"/>
          </a:p>
        </p:txBody>
      </p:sp>
      <p:sp>
        <p:nvSpPr>
          <p:cNvPr id="27" name="Road body 5"/>
          <p:cNvSpPr txBox="1"/>
          <p:nvPr/>
        </p:nvSpPr>
        <p:spPr>
          <a:xfrm>
            <a:off x="7114032" y="2880360"/>
            <a:ext cx="1572768" cy="1005840"/>
          </a:xfrm>
          <a:prstGeom prst="rect">
            <a:avLst/>
          </a:prstGeom>
          <a:noFill/>
          <a:ln/>
        </p:spPr>
        <p:txBody>
          <a:bodyPr wrap="square" lIns="0" tIns="0" rIns="0" bIns="0" rtlCol="0" anchor="t"/>
          <a:lstStyle/>
          <a:p>
            <a:pPr algn="ctr" indent="0" marL="0">
              <a:buNone/>
            </a:pPr>
            <a:r>
              <a:rPr lang="en-US" sz="1400" dirty="0">
                <a:solidFill>
                  <a:schemeClr val="tx1"/>
                </a:solidFill>
              </a:rPr>
              <a:t>Preprint first, then peer review</a:t>
            </a:r>
            <a:endParaRPr lang="en-US" sz="14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lIns="0" tIns="0" rIns="0" bIns="0" rtlCol="0" anchor="ctr"/>
          <a:lstStyle/>
          <a:p>
            <a:pPr algn="l" indent="0" marL="0">
              <a:buNone/>
            </a:pPr>
            <a:r>
              <a:rPr lang="en-US" sz="3400" b="1" dirty="0">
                <a:solidFill>
                  <a:schemeClr val="tx1"/>
                </a:solidFill>
              </a:rPr>
              <a:t>Key references</a:t>
            </a:r>
            <a:endParaRPr lang="en-US" sz="3400" dirty="0"/>
          </a:p>
        </p:txBody>
      </p:sp>
      <p:sp>
        <p:nvSpPr>
          <p:cNvPr id="4" name="Refs left"/>
          <p:cNvSpPr txBox="1"/>
          <p:nvPr/>
        </p:nvSpPr>
        <p:spPr>
          <a:xfrm>
            <a:off x="457200" y="1280160"/>
            <a:ext cx="393192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Liu et al. Energy-based out-of-distribution detection. NeurIPS 2020.</a:t>
            </a:r>
            <a:endParaRPr lang="en-US" sz="1400" dirty="0"/>
          </a:p>
          <a:p>
            <a:pPr marL="342900" indent="-342900">
              <a:spcAft>
                <a:spcPts val="400"/>
              </a:spcAft>
              <a:buSzPct val="100000"/>
              <a:buChar char="•"/>
            </a:pPr>
            <a:r>
              <a:rPr lang="en-US" sz="1400" dirty="0">
                <a:solidFill>
                  <a:schemeClr val="tx1"/>
                </a:solidFill>
              </a:rPr>
              <a:t>Lee et al. A simple unified framework for OOD detection (Mahalanobis). NeurIPS 2018.</a:t>
            </a:r>
            <a:endParaRPr lang="en-US" sz="1400" dirty="0"/>
          </a:p>
          <a:p>
            <a:pPr marL="342900" indent="-342900">
              <a:spcAft>
                <a:spcPts val="400"/>
              </a:spcAft>
              <a:buSzPct val="100000"/>
              <a:buChar char="•"/>
            </a:pPr>
            <a:r>
              <a:rPr lang="en-US" sz="1400" dirty="0">
                <a:solidFill>
                  <a:schemeClr val="tx1"/>
                </a:solidFill>
              </a:rPr>
              <a:t>Wu et al. Energy-based OOD detection for graph neural networks. ICLR 2023.</a:t>
            </a:r>
            <a:endParaRPr lang="en-US" sz="1400" dirty="0"/>
          </a:p>
          <a:p>
            <a:pPr marL="342900" indent="-342900">
              <a:spcAft>
                <a:spcPts val="400"/>
              </a:spcAft>
              <a:buSzPct val="100000"/>
              <a:buChar char="•"/>
            </a:pPr>
            <a:r>
              <a:rPr lang="en-US" sz="1400" dirty="0">
                <a:solidFill>
                  <a:schemeClr val="tx1"/>
                </a:solidFill>
              </a:rPr>
              <a:t>Wu et al. OpenWGL: open-world graph learning. ICDM 2020.</a:t>
            </a:r>
            <a:endParaRPr lang="en-US" sz="1400" dirty="0"/>
          </a:p>
          <a:p>
            <a:pPr marL="342900" indent="-342900">
              <a:spcAft>
                <a:spcPts val="400"/>
              </a:spcAft>
              <a:buSzPct val="100000"/>
              <a:buChar char="•"/>
            </a:pPr>
            <a:r>
              <a:rPr lang="en-US" sz="1400" dirty="0">
                <a:solidFill>
                  <a:schemeClr val="tx1"/>
                </a:solidFill>
              </a:rPr>
              <a:t>Dou et al. CARE-GNN. CIKM 2020.</a:t>
            </a:r>
            <a:endParaRPr lang="en-US" sz="1400" dirty="0"/>
          </a:p>
        </p:txBody>
      </p:sp>
      <p:sp>
        <p:nvSpPr>
          <p:cNvPr id="5" name="Refs right"/>
          <p:cNvSpPr txBox="1"/>
          <p:nvPr/>
        </p:nvSpPr>
        <p:spPr>
          <a:xfrm>
            <a:off x="4663440" y="1280160"/>
            <a:ext cx="3931920" cy="310896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1"/>
                </a:solidFill>
              </a:rPr>
              <a:t>Vovk et al. Algorithmic Learning in a Random World. 2005.</a:t>
            </a:r>
            <a:endParaRPr lang="en-US" sz="1400" dirty="0"/>
          </a:p>
          <a:p>
            <a:pPr marL="342900" indent="-342900">
              <a:spcAft>
                <a:spcPts val="400"/>
              </a:spcAft>
              <a:buSzPct val="100000"/>
              <a:buChar char="•"/>
            </a:pPr>
            <a:r>
              <a:rPr lang="en-US" sz="1400" dirty="0">
                <a:solidFill>
                  <a:schemeClr val="tx1"/>
                </a:solidFill>
              </a:rPr>
              <a:t>Angelopoulos and Bates. A gentle introduction to conformal prediction. 2023.</a:t>
            </a:r>
            <a:endParaRPr lang="en-US" sz="1400" dirty="0"/>
          </a:p>
          <a:p>
            <a:pPr marL="342900" indent="-342900">
              <a:spcAft>
                <a:spcPts val="400"/>
              </a:spcAft>
              <a:buSzPct val="100000"/>
              <a:buChar char="•"/>
            </a:pPr>
            <a:r>
              <a:rPr lang="en-US" sz="1400" dirty="0">
                <a:solidFill>
                  <a:schemeClr val="tx1"/>
                </a:solidFill>
              </a:rPr>
              <a:t>Kendall and Gal. What uncertainties do we need in Bayesian deep learning? NeurIPS 2017.</a:t>
            </a:r>
            <a:endParaRPr lang="en-US" sz="1400" dirty="0"/>
          </a:p>
          <a:p>
            <a:pPr marL="342900" indent="-342900">
              <a:spcAft>
                <a:spcPts val="400"/>
              </a:spcAft>
              <a:buSzPct val="100000"/>
              <a:buChar char="•"/>
            </a:pPr>
            <a:r>
              <a:rPr lang="en-US" sz="1400" dirty="0">
                <a:solidFill>
                  <a:schemeClr val="tx1"/>
                </a:solidFill>
              </a:rPr>
              <a:t>Schlichtkrull et al. R-GCN. ESWC 2018. Hu et al. HGT. WWW 2020.</a:t>
            </a:r>
            <a:endParaRPr lang="en-US" sz="1400" dirty="0"/>
          </a:p>
          <a:p>
            <a:pPr marL="342900" indent="-342900">
              <a:spcAft>
                <a:spcPts val="400"/>
              </a:spcAft>
              <a:buSzPct val="100000"/>
              <a:buChar char="•"/>
            </a:pPr>
            <a:r>
              <a:rPr lang="en-US" sz="1400" dirty="0">
                <a:solidFill>
                  <a:schemeClr val="tx1"/>
                </a:solidFill>
              </a:rPr>
              <a:t>Campello et al. HDBSCAN. PAKDD 2013.</a:t>
            </a:r>
            <a:endParaRPr lang="en-US" sz="1400" dirty="0"/>
          </a:p>
        </p:txBody>
      </p:sp>
      <p:sp>
        <p:nvSpPr>
          <p:cNvPr id="6" name="Refs caption"/>
          <p:cNvSpPr txBox="1"/>
          <p:nvPr/>
        </p:nvSpPr>
        <p:spPr>
          <a:xfrm>
            <a:off x="457200" y="4434840"/>
            <a:ext cx="8138160" cy="274320"/>
          </a:xfrm>
          <a:prstGeom prst="rect">
            <a:avLst/>
          </a:prstGeom>
          <a:noFill/>
          <a:ln/>
        </p:spPr>
        <p:txBody>
          <a:bodyPr wrap="square" lIns="0" tIns="0" rIns="0" bIns="0" rtlCol="0" anchor="t"/>
          <a:lstStyle/>
          <a:p>
            <a:pPr indent="0" marL="0">
              <a:buNone/>
            </a:pPr>
            <a:r>
              <a:rPr lang="en-US" sz="1200" dirty="0">
                <a:solidFill>
                  <a:schemeClr val="accent4"/>
                </a:solidFill>
              </a:rPr>
              <a:t>Verify each entry against the original source before citing.</a:t>
            </a:r>
            <a:endParaRPr lang="en-US" sz="1200" dirty="0"/>
          </a:p>
        </p:txBody>
      </p:sp>
      <p:sp>
        <p:nvSpPr>
          <p:cNvPr id="25" name="Slide Number Placeholder 0"/>
          <p:cNvSpPr>
            <a:spLocks noGrp="1"/>
          </p:cNvSpPr>
          <p:nvPr>
            <p:ph type="sldNum" sz="quarter" idx="4294967295"/>
          </p:nvPr>
        </p:nvSpPr>
        <p:spPr>
          <a:xfrm>
            <a:off x="8321040" y="4800600"/>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rgbClr val="6B7280"/>
                </a:solidFill>
              </a:defRPr>
            </a:lvl1pPr>
          </a:lstStyle>
          <a:p>
            <a:pPr algn="l"/>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OWERF">
  <a:themeElements>
    <a:clrScheme name="OWERF">
      <a:dk1>
        <a:srgbClr val="1F2937"/>
      </a:dk1>
      <a:lt1>
        <a:srgbClr val="FFFFFF"/>
      </a:lt1>
      <a:dk2>
        <a:srgbClr val="9A3412"/>
      </a:dk2>
      <a:lt2>
        <a:srgbClr val="FFF3E8"/>
      </a:lt2>
      <a:accent1>
        <a:srgbClr val="F26B1D"/>
      </a:accent1>
      <a:accent2>
        <a:srgbClr val="0F766E"/>
      </a:accent2>
      <a:accent3>
        <a:srgbClr val="FBBF24"/>
      </a:accent3>
      <a:accent4>
        <a:srgbClr val="6B7280"/>
      </a:accent4>
      <a:accent5>
        <a:srgbClr val="B91C1C"/>
      </a:accent5>
      <a:accent6>
        <a:srgbClr val="2563EB"/>
      </a:accent6>
      <a:hlink>
        <a:srgbClr val="F26B1D"/>
      </a:hlink>
      <a:folHlink>
        <a:srgbClr val="9A3412"/>
      </a:folHlink>
    </a:clrScheme>
    <a:fontScheme name="OWERF">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OW-ERF: Explain Before You Flag</dc:title>
  <dc:subject>PptxGenJS Presentation</dc:subject>
  <dc:creator>PptxGenJS</dc:creator>
  <cp:lastModifiedBy>PptxGenJS</cp:lastModifiedBy>
  <cp:revision>1</cp:revision>
  <dcterms:created xsi:type="dcterms:W3CDTF">2026-10-25T08:23:28Z</dcterms:created>
  <dcterms:modified xsi:type="dcterms:W3CDTF">2026-10-25T08:23:28Z</dcterms:modified>
</cp:coreProperties>
</file>